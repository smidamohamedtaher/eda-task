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6" r:id="rId6"/>
    <p:sldId id="267" r:id="rId7"/>
    <p:sldId id="269" r:id="rId8"/>
    <p:sldId id="268" r:id="rId9"/>
    <p:sldId id="272" r:id="rId10"/>
    <p:sldId id="270" r:id="rId11"/>
    <p:sldId id="271" r:id="rId12"/>
    <p:sldId id="273" r:id="rId13"/>
    <p:sldId id="274" r:id="rId14"/>
    <p:sldId id="275" r:id="rId15"/>
    <p:sldId id="276" r:id="rId16"/>
    <p:sldId id="277" r:id="rId17"/>
    <p:sldId id="2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FF36-28FC-E2D2-6F84-DA4028B8F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F7488-36A8-D8B4-BC2A-FEA12FA1B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5891A-9E01-39D5-9258-6BE6A0E34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8ED7-7ABD-4B4F-A36D-3F55B8493473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1F380-12DA-8336-86BF-F0C651FA1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2F7CB-C4A4-CF9C-478A-DD01AB5B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FF2-D255-4E52-AD68-86E1A8AC64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541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96439-E798-07F3-2FA6-2530AC68A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FD5EB-7069-1458-D0B3-B5CE1F769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5BF90-447D-3838-1681-90F1734AA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8ED7-7ABD-4B4F-A36D-3F55B8493473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D7900-17AF-3137-B870-E0A7AAC94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D6F5D-087F-5F8A-DB7B-1D40F141F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FF2-D255-4E52-AD68-86E1A8AC64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1425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5061D-4F4D-0EBA-29D7-7D7D25131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A6B99-A6D2-7C7A-4244-699B0738B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4C38C-0AA8-C322-530F-52A74C15C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8ED7-7ABD-4B4F-A36D-3F55B8493473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B8916-405E-AC9A-661E-6F45DBDC9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BF856-9500-5B58-BFE2-AFB5596B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FF2-D255-4E52-AD68-86E1A8AC64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266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94AF-6858-D1F3-219D-61BF2C645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18286-BE30-96CE-D50F-FD82D26BE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E831A-0466-6436-52F1-4E78A97FE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D5AEE-3210-C21F-3F3D-7649A688C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8ED7-7ABD-4B4F-A36D-3F55B8493473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4AF04-88EC-1C3C-61C6-4A4F5B9C9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98587-D5DA-538D-DE85-28C470FA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FF2-D255-4E52-AD68-86E1A8AC64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538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5C34E-2697-480E-B25A-72778F182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C2A8F-65C7-6EBB-D9A9-A71BD7A58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97262-A83C-EA62-B9E7-5FF287BD8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C40A60-D8B1-0595-7C6A-92689BF22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934D99-9CB6-8361-C163-32EEEC7749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6342D7-D758-430F-9C97-94A17E980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8ED7-7ABD-4B4F-A36D-3F55B8493473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E5A335-1C3F-78A1-1ED7-6B3E36829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C28B48-290B-FDF3-F2DB-98DD9EAA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FF2-D255-4E52-AD68-86E1A8AC64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743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781FC-8BE7-3E49-E462-C3BF674B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A42193-B975-E585-DD0C-12646B49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8ED7-7ABD-4B4F-A36D-3F55B8493473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E095A-FE0C-FD78-A10A-79D4BE7A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E98C8-35EA-F8FF-935A-F7AB5C55C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FF2-D255-4E52-AD68-86E1A8AC64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4895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45281-CAA8-2D57-28B3-6BCF068A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8ED7-7ABD-4B4F-A36D-3F55B8493473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B0EDDE-DC5E-130F-B8E2-31F1680A7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08D49-7B88-619B-46AB-7983CD680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FF2-D255-4E52-AD68-86E1A8AC64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6432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A5FFE-86D6-AFD2-404E-A84D319CC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E327D-7158-55B4-58BB-B62041927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7BB3F-3B59-62D8-3BA0-6E3451B37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6BB27-6AC9-17C6-F560-DE015945C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8ED7-7ABD-4B4F-A36D-3F55B8493473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A12BA-C9AE-D928-9AA4-A7C8CB771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815D5-9A7C-9949-E768-382353515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FF2-D255-4E52-AD68-86E1A8AC64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0004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DAEC5-00B9-1BFD-117B-9033E4D1D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DAD89D-F970-7DE9-82B4-517F8D6C51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F8A05-4D70-A85D-FB5E-24E3804A0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C51C6-F78E-BED5-4596-1180E5ABD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8ED7-7ABD-4B4F-A36D-3F55B8493473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792E5-59DE-5704-A47F-FFBE1696A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8A7A0-0984-30D8-BBC4-7AFA24C30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FF2-D255-4E52-AD68-86E1A8AC64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1201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9734-B699-526D-013C-462950AB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BD9901-BA13-C25D-B906-761AA1F0C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55B6-5850-FD11-6C16-B021D0C2A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8ED7-7ABD-4B4F-A36D-3F55B8493473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7EF54-34A8-A0C6-1F2D-E564344A6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142E4-D9AE-E949-9471-608223F6E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FF2-D255-4E52-AD68-86E1A8AC64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7314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FFEDE-2E35-BDED-219D-15C47C86F4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828592-A8AB-E646-D870-48B570AE8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6B80C-B9BB-63F1-D357-4DAFB998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8ED7-7ABD-4B4F-A36D-3F55B8493473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E3A33-ECA2-A510-B9DC-343258CC8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769C1-C241-8B35-DC54-122A0AC9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FF2-D255-4E52-AD68-86E1A8AC64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453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7338DD-40FD-B82A-29F5-3130D0426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E3E92-D8EB-0D92-0517-4D5801503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DB991-84C5-548A-4120-DD87728201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68ED7-7ABD-4B4F-A36D-3F55B8493473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8D400-B5B9-8B1A-9D7F-9E00B2647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F877F-1BC7-AF53-7F9C-4D9FBEC02B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56FF2-D255-4E52-AD68-86E1A8AC64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697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C9BD02A-456F-1C70-7BF5-0354E75BA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599416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679902-1B7B-B02E-3804-484BE8B79C1A}"/>
              </a:ext>
            </a:extLst>
          </p:cNvPr>
          <p:cNvSpPr txBox="1"/>
          <p:nvPr/>
        </p:nvSpPr>
        <p:spPr>
          <a:xfrm>
            <a:off x="6096000" y="667820"/>
            <a:ext cx="559941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CA" sz="80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Student Performance Dataset</a:t>
            </a:r>
          </a:p>
          <a:p>
            <a:endParaRPr lang="en-CA" sz="4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BD6C8E-87CF-8DE7-079F-4B589D924BFE}"/>
              </a:ext>
            </a:extLst>
          </p:cNvPr>
          <p:cNvCxnSpPr/>
          <p:nvPr/>
        </p:nvCxnSpPr>
        <p:spPr>
          <a:xfrm>
            <a:off x="6096000" y="4787757"/>
            <a:ext cx="58220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7C6EF06-7B56-8325-F1C8-3CF1DC106E3B}"/>
              </a:ext>
            </a:extLst>
          </p:cNvPr>
          <p:cNvSpPr txBox="1"/>
          <p:nvPr/>
        </p:nvSpPr>
        <p:spPr>
          <a:xfrm>
            <a:off x="6256962" y="5291191"/>
            <a:ext cx="27945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By :</a:t>
            </a:r>
            <a:endParaRPr lang="en-CA" b="1" u="sng" dirty="0"/>
          </a:p>
          <a:p>
            <a:pPr marL="285750" indent="-285750">
              <a:buFontTx/>
              <a:buChar char="-"/>
            </a:pPr>
            <a:r>
              <a:rPr lang="en-CA" b="1" u="sng" dirty="0"/>
              <a:t>Sami Youcef </a:t>
            </a:r>
          </a:p>
          <a:p>
            <a:pPr marL="285750" indent="-285750">
              <a:buFontTx/>
              <a:buChar char="-"/>
            </a:pPr>
            <a:r>
              <a:rPr lang="en-CA" b="1" u="sng" dirty="0"/>
              <a:t>Smida Mohamed taher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5783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421F80-E30D-AE82-EDF5-DD0506795BEE}"/>
              </a:ext>
            </a:extLst>
          </p:cNvPr>
          <p:cNvCxnSpPr>
            <a:cxnSpLocks/>
          </p:cNvCxnSpPr>
          <p:nvPr/>
        </p:nvCxnSpPr>
        <p:spPr>
          <a:xfrm>
            <a:off x="821933" y="195209"/>
            <a:ext cx="0" cy="65651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7DCB988-9FEE-B7DA-CAC5-E20F0DA46022}"/>
              </a:ext>
            </a:extLst>
          </p:cNvPr>
          <p:cNvSpPr txBox="1"/>
          <p:nvPr/>
        </p:nvSpPr>
        <p:spPr>
          <a:xfrm>
            <a:off x="1387011" y="534256"/>
            <a:ext cx="3020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FF0000"/>
                </a:solidFill>
              </a:rPr>
              <a:t>- </a:t>
            </a:r>
            <a:r>
              <a:rPr lang="en-CA" sz="3600" b="1" dirty="0">
                <a:solidFill>
                  <a:srgbClr val="FF0000"/>
                </a:solidFill>
              </a:rPr>
              <a:t>Overview :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7DCB988-9FEE-B7DA-CAC5-E20F0DA46022}"/>
              </a:ext>
            </a:extLst>
          </p:cNvPr>
          <p:cNvSpPr txBox="1"/>
          <p:nvPr/>
        </p:nvSpPr>
        <p:spPr>
          <a:xfrm>
            <a:off x="1236323" y="3429000"/>
            <a:ext cx="3020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b="1" dirty="0">
                <a:solidFill>
                  <a:srgbClr val="FF0000"/>
                </a:solidFill>
              </a:rPr>
              <a:t>- </a:t>
            </a:r>
            <a:r>
              <a:rPr lang="en-CA" sz="3600" b="1" dirty="0">
                <a:solidFill>
                  <a:srgbClr val="FF0000"/>
                </a:solidFill>
              </a:rPr>
              <a:t>target :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C50265-A95F-A357-8F10-01B15524B5FC}"/>
              </a:ext>
            </a:extLst>
          </p:cNvPr>
          <p:cNvSpPr txBox="1"/>
          <p:nvPr/>
        </p:nvSpPr>
        <p:spPr>
          <a:xfrm>
            <a:off x="1387012" y="4075331"/>
            <a:ext cx="788027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we can say that this database seeks to see if </a:t>
            </a:r>
            <a:r>
              <a:rPr lang="en-CA" sz="2400" dirty="0" err="1"/>
              <a:t>specefic</a:t>
            </a:r>
            <a:r>
              <a:rPr lang="en-CA" sz="2400" dirty="0"/>
              <a:t> manners affect student performance such as getting helped by parent or go to school or </a:t>
            </a:r>
            <a:r>
              <a:rPr lang="en-CA" sz="2400" dirty="0" err="1"/>
              <a:t>studing</a:t>
            </a:r>
            <a:r>
              <a:rPr lang="en-CA" sz="2400" dirty="0"/>
              <a:t> more the main thing the data base wants is to check performance (Final grade) to see how we can help students to get better grades . </a:t>
            </a:r>
          </a:p>
          <a:p>
            <a:endParaRPr lang="en-CA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CBB0B11-C2F0-E01D-DD43-824A27A91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100" y="-97604"/>
            <a:ext cx="30099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55316A-1B44-79CF-C100-E4F1C1081AE4}"/>
              </a:ext>
            </a:extLst>
          </p:cNvPr>
          <p:cNvSpPr txBox="1"/>
          <p:nvPr/>
        </p:nvSpPr>
        <p:spPr>
          <a:xfrm>
            <a:off x="1236323" y="1261811"/>
            <a:ext cx="78802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this database seeks to see if </a:t>
            </a:r>
            <a:r>
              <a:rPr lang="en-CA" sz="2400" dirty="0" err="1"/>
              <a:t>specefic</a:t>
            </a:r>
            <a:r>
              <a:rPr lang="en-CA" sz="2400" dirty="0"/>
              <a:t> manners affect student performance such as getting helped by parent or go to school or </a:t>
            </a:r>
            <a:r>
              <a:rPr lang="en-CA" sz="2400" dirty="0" err="1"/>
              <a:t>studing</a:t>
            </a:r>
            <a:r>
              <a:rPr lang="en-CA" sz="2400" dirty="0"/>
              <a:t> more the main thing the data base wants is to check performance (Final grade) to see how we can help students to get better grades</a:t>
            </a:r>
          </a:p>
        </p:txBody>
      </p:sp>
    </p:spTree>
    <p:extLst>
      <p:ext uri="{BB962C8B-B14F-4D97-AF65-F5344CB8AC3E}">
        <p14:creationId xmlns:p14="http://schemas.microsoft.com/office/powerpoint/2010/main" val="1310758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C0CCE-564F-9123-81E1-AE89A8C8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4E1DB4-52ED-7A11-C6F5-8C5284D5B626}"/>
              </a:ext>
            </a:extLst>
          </p:cNvPr>
          <p:cNvSpPr txBox="1"/>
          <p:nvPr/>
        </p:nvSpPr>
        <p:spPr>
          <a:xfrm>
            <a:off x="3589105" y="226032"/>
            <a:ext cx="501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</a:rPr>
              <a:t>The features :</a:t>
            </a:r>
            <a:endParaRPr lang="en-CA" sz="3600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6ADF7B-BBD2-2A8E-0EC4-FAED49E61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049027"/>
              </p:ext>
            </p:extLst>
          </p:nvPr>
        </p:nvGraphicFramePr>
        <p:xfrm>
          <a:off x="688369" y="861148"/>
          <a:ext cx="10828961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8804">
                  <a:extLst>
                    <a:ext uri="{9D8B030D-6E8A-4147-A177-3AD203B41FA5}">
                      <a16:colId xmlns:a16="http://schemas.microsoft.com/office/drawing/2014/main" val="900049784"/>
                    </a:ext>
                  </a:extLst>
                </a:gridCol>
                <a:gridCol w="7390157">
                  <a:extLst>
                    <a:ext uri="{9D8B030D-6E8A-4147-A177-3AD203B41FA5}">
                      <a16:colId xmlns:a16="http://schemas.microsoft.com/office/drawing/2014/main" val="928557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The feature</a:t>
                      </a:r>
                      <a:endParaRPr lang="en-C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The meaning </a:t>
                      </a:r>
                      <a:endParaRPr lang="en-C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30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studentID</a:t>
                      </a:r>
                      <a:endParaRPr lang="en-CA" sz="24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lang="en-CA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numiercal</a:t>
                      </a:r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number (float) to tell the </a:t>
                      </a:r>
                      <a:r>
                        <a:rPr lang="en-CA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specefic</a:t>
                      </a:r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student </a:t>
                      </a:r>
                      <a:r>
                        <a:rPr lang="en-CA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wer</a:t>
                      </a:r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working on . and it is not important for predictions</a:t>
                      </a:r>
                      <a:endParaRPr lang="en-C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868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endParaRPr lang="en-CA" sz="24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 name (string) for more </a:t>
                      </a:r>
                      <a:r>
                        <a:rPr lang="en-CA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spefic</a:t>
                      </a:r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work also not </a:t>
                      </a:r>
                      <a:r>
                        <a:rPr lang="en-CA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importnet</a:t>
                      </a:r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predictions</a:t>
                      </a:r>
                      <a:endParaRPr lang="en-C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337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  <a:endParaRPr lang="en-CA" sz="24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 : male or female to see the better one at studying , we can see also that males are </a:t>
                      </a:r>
                      <a:r>
                        <a:rPr lang="en-CA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slighty</a:t>
                      </a:r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more by 5%</a:t>
                      </a:r>
                      <a:endParaRPr lang="en-C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584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AttendanceRate</a:t>
                      </a:r>
                      <a:endParaRPr lang="en-C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float percentage from 0 to 100 to see how often the student go to school to know if going to school helps or no its important for predictions</a:t>
                      </a:r>
                      <a:endParaRPr lang="en-C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94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StudyHoursPerWeek</a:t>
                      </a:r>
                      <a:endParaRPr lang="en-C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number of the hours (float) the student studies each week to see if going more is helpful</a:t>
                      </a:r>
                      <a:endParaRPr lang="en-C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918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PreviousGrade</a:t>
                      </a:r>
                      <a:endParaRPr lang="en-C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student old exam points (float) to see if he changed or still the same</a:t>
                      </a:r>
                      <a:endParaRPr lang="en-C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442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543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08960-1C5F-C4AA-42EF-2A1F1C17E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86AD49-C3B7-9610-894C-F6BA0E7E2FB6}"/>
              </a:ext>
            </a:extLst>
          </p:cNvPr>
          <p:cNvSpPr txBox="1"/>
          <p:nvPr/>
        </p:nvSpPr>
        <p:spPr>
          <a:xfrm>
            <a:off x="3589105" y="226032"/>
            <a:ext cx="501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</a:rPr>
              <a:t>The features :</a:t>
            </a:r>
            <a:endParaRPr lang="en-CA" sz="3600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9BB9D6-21D2-A41C-F37E-080EDCC9F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256252"/>
              </p:ext>
            </p:extLst>
          </p:nvPr>
        </p:nvGraphicFramePr>
        <p:xfrm>
          <a:off x="928098" y="914400"/>
          <a:ext cx="1033580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2198">
                  <a:extLst>
                    <a:ext uri="{9D8B030D-6E8A-4147-A177-3AD203B41FA5}">
                      <a16:colId xmlns:a16="http://schemas.microsoft.com/office/drawing/2014/main" val="900049784"/>
                    </a:ext>
                  </a:extLst>
                </a:gridCol>
                <a:gridCol w="7053604">
                  <a:extLst>
                    <a:ext uri="{9D8B030D-6E8A-4147-A177-3AD203B41FA5}">
                      <a16:colId xmlns:a16="http://schemas.microsoft.com/office/drawing/2014/main" val="928557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The feature</a:t>
                      </a:r>
                      <a:endParaRPr lang="en-C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The meaning </a:t>
                      </a:r>
                      <a:endParaRPr lang="en-C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30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ExtracurricularActivities</a:t>
                      </a:r>
                      <a:endParaRPr lang="en-C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of activities the student participates in sport.. to see if </a:t>
                      </a:r>
                      <a:r>
                        <a:rPr lang="en-CA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activies</a:t>
                      </a:r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help</a:t>
                      </a:r>
                      <a:endParaRPr lang="en-C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320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ParentalSupport</a:t>
                      </a:r>
                      <a:endParaRPr lang="en-C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Level of support at home (Low / Medium / High) to see if getting supported helps we use it in predictions</a:t>
                      </a:r>
                      <a:endParaRPr lang="en-CA" sz="2400" dirty="0"/>
                    </a:p>
                    <a:p>
                      <a:endParaRPr lang="en-C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190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FinalGrade</a:t>
                      </a:r>
                      <a:endParaRPr lang="en-C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CA" sz="2400" dirty="0">
                          <a:effectLst/>
                        </a:rPr>
                        <a:t>the student final score in the class which is the most important thing we are looking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2559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Study Hours</a:t>
                      </a:r>
                      <a:endParaRPr lang="en-C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study-hours per day this time to see daily vs weekly</a:t>
                      </a:r>
                      <a:endParaRPr lang="en-C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804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Attendance (%)</a:t>
                      </a:r>
                      <a:endParaRPr lang="en-C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attendance percentage for online classes</a:t>
                      </a:r>
                      <a:endParaRPr lang="en-C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078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Online Classes Taken</a:t>
                      </a:r>
                      <a:endParaRPr lang="en-C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lang="en-CA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r>
                        <a:rPr lang="en-CA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true or false to see if taking online exams helps the student in points and we use it in predictions</a:t>
                      </a:r>
                      <a:endParaRPr lang="en-C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537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287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41F050-D977-BE5E-B1E1-1933A291E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638" y="0"/>
            <a:ext cx="564736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17C0E3-3C06-AAC3-999E-C627F6EC2B01}"/>
              </a:ext>
            </a:extLst>
          </p:cNvPr>
          <p:cNvSpPr txBox="1"/>
          <p:nvPr/>
        </p:nvSpPr>
        <p:spPr>
          <a:xfrm>
            <a:off x="0" y="678094"/>
            <a:ext cx="6096000" cy="336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CA" sz="9600" spc="-50" dirty="0">
                <a:latin typeface="+mj-lt"/>
                <a:ea typeface="+mj-ea"/>
                <a:cs typeface="+mj-cs"/>
              </a:rPr>
              <a:t>Cleaning data step</a:t>
            </a:r>
          </a:p>
          <a:p>
            <a:endParaRPr lang="en-CA" sz="4000" dirty="0"/>
          </a:p>
        </p:txBody>
      </p:sp>
    </p:spTree>
    <p:extLst>
      <p:ext uri="{BB962C8B-B14F-4D97-AF65-F5344CB8AC3E}">
        <p14:creationId xmlns:p14="http://schemas.microsoft.com/office/powerpoint/2010/main" val="3943865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50AACB-90D0-8F13-AE22-C29C8C6B1F5E}"/>
              </a:ext>
            </a:extLst>
          </p:cNvPr>
          <p:cNvSpPr txBox="1"/>
          <p:nvPr/>
        </p:nvSpPr>
        <p:spPr>
          <a:xfrm>
            <a:off x="2989780" y="277403"/>
            <a:ext cx="4685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solidFill>
                  <a:srgbClr val="FF0000"/>
                </a:solidFill>
              </a:rPr>
              <a:t>Missing data</a:t>
            </a:r>
            <a:endParaRPr lang="en-CA" sz="4400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845DFC-73F3-00FB-B911-AFE7478D0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394096"/>
              </p:ext>
            </p:extLst>
          </p:nvPr>
        </p:nvGraphicFramePr>
        <p:xfrm>
          <a:off x="1625314" y="1018540"/>
          <a:ext cx="741394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316">
                  <a:extLst>
                    <a:ext uri="{9D8B030D-6E8A-4147-A177-3AD203B41FA5}">
                      <a16:colId xmlns:a16="http://schemas.microsoft.com/office/drawing/2014/main" val="2541501573"/>
                    </a:ext>
                  </a:extLst>
                </a:gridCol>
                <a:gridCol w="2471316">
                  <a:extLst>
                    <a:ext uri="{9D8B030D-6E8A-4147-A177-3AD203B41FA5}">
                      <a16:colId xmlns:a16="http://schemas.microsoft.com/office/drawing/2014/main" val="3919241593"/>
                    </a:ext>
                  </a:extLst>
                </a:gridCol>
                <a:gridCol w="2471316">
                  <a:extLst>
                    <a:ext uri="{9D8B030D-6E8A-4147-A177-3AD203B41FA5}">
                      <a16:colId xmlns:a16="http://schemas.microsoft.com/office/drawing/2014/main" val="33484771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The feature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Data types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Num missing data 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547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StudentID</a:t>
                      </a: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075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34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256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48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127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AttendanceRate</a:t>
                      </a:r>
                      <a:endParaRPr lang="en-C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995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StudyHoursPerWeek</a:t>
                      </a:r>
                      <a:endParaRPr lang="en-C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9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PreviousGrade</a:t>
                      </a:r>
                      <a:endParaRPr lang="en-C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720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ExtracurricularActivities</a:t>
                      </a:r>
                      <a:endParaRPr lang="en-C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43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760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ParentalSupport</a:t>
                      </a:r>
                      <a:endParaRPr lang="en-C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404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FinalGrade</a:t>
                      </a:r>
                      <a:endParaRPr lang="en-C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695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Study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16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Attendance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41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630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Online Classes Taken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7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281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19682-85B0-8EE3-4F74-74B3D313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823882-FE09-34CF-9290-B2C4225C94C0}"/>
              </a:ext>
            </a:extLst>
          </p:cNvPr>
          <p:cNvCxnSpPr>
            <a:cxnSpLocks/>
          </p:cNvCxnSpPr>
          <p:nvPr/>
        </p:nvCxnSpPr>
        <p:spPr>
          <a:xfrm>
            <a:off x="821933" y="195209"/>
            <a:ext cx="0" cy="65651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41E7243-A8E2-BAD6-F4C0-9C8C96CB54EC}"/>
              </a:ext>
            </a:extLst>
          </p:cNvPr>
          <p:cNvSpPr txBox="1"/>
          <p:nvPr/>
        </p:nvSpPr>
        <p:spPr>
          <a:xfrm>
            <a:off x="1020565" y="318499"/>
            <a:ext cx="6441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FF0000"/>
                </a:solidFill>
              </a:rPr>
              <a:t>- </a:t>
            </a:r>
            <a:r>
              <a:rPr lang="en-CA" sz="3600" b="1" dirty="0">
                <a:solidFill>
                  <a:srgbClr val="FF0000"/>
                </a:solidFill>
              </a:rPr>
              <a:t>Cleaning the numerical data :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BE09EF-C20D-788C-52C8-EF3494255533}"/>
              </a:ext>
            </a:extLst>
          </p:cNvPr>
          <p:cNvSpPr txBox="1"/>
          <p:nvPr/>
        </p:nvSpPr>
        <p:spPr>
          <a:xfrm>
            <a:off x="1020565" y="1097424"/>
            <a:ext cx="7880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 In the case of digital data, we fill in the missing data with the average in order to maintain the data distribution.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6102C9-4CE5-BAC6-425A-566603A1A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714" y="2188389"/>
            <a:ext cx="5040000" cy="35999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60A269-3C4F-99EB-8913-5C461BAA3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838" y="2188389"/>
            <a:ext cx="5040000" cy="360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5FE7E49-A539-19AB-2E18-1AC4D5E7B93B}"/>
              </a:ext>
            </a:extLst>
          </p:cNvPr>
          <p:cNvSpPr txBox="1"/>
          <p:nvPr/>
        </p:nvSpPr>
        <p:spPr>
          <a:xfrm>
            <a:off x="3328827" y="6061753"/>
            <a:ext cx="1428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Before</a:t>
            </a:r>
            <a:endParaRPr lang="en-CA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2FE4E1-82B3-AFE9-4E1E-439484B989A3}"/>
              </a:ext>
            </a:extLst>
          </p:cNvPr>
          <p:cNvSpPr txBox="1"/>
          <p:nvPr/>
        </p:nvSpPr>
        <p:spPr>
          <a:xfrm>
            <a:off x="8420784" y="5983320"/>
            <a:ext cx="1428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After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953663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B949CE-D167-55A4-6A19-69D951272FB1}"/>
              </a:ext>
            </a:extLst>
          </p:cNvPr>
          <p:cNvSpPr txBox="1"/>
          <p:nvPr/>
        </p:nvSpPr>
        <p:spPr>
          <a:xfrm>
            <a:off x="1339063" y="337335"/>
            <a:ext cx="6798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FF0000"/>
                </a:solidFill>
              </a:rPr>
              <a:t>- </a:t>
            </a:r>
            <a:r>
              <a:rPr lang="en-CA" sz="3600" b="1" dirty="0">
                <a:solidFill>
                  <a:srgbClr val="FF0000"/>
                </a:solidFill>
              </a:rPr>
              <a:t>Cleaning the no-numerical data :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1065B1-257E-B5E4-7130-CC8FF89ED6E0}"/>
              </a:ext>
            </a:extLst>
          </p:cNvPr>
          <p:cNvSpPr txBox="1"/>
          <p:nvPr/>
        </p:nvSpPr>
        <p:spPr>
          <a:xfrm>
            <a:off x="1339063" y="1198453"/>
            <a:ext cx="7880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 In the case of digital data, we fill in the missing data Using two methods </a:t>
            </a:r>
            <a:r>
              <a:rPr lang="ar-DZ" sz="2400" dirty="0"/>
              <a:t>:</a:t>
            </a:r>
            <a:endParaRPr lang="en-CA" sz="24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FDBFEE-1597-C6E0-CA43-0965DFAE3B1B}"/>
              </a:ext>
            </a:extLst>
          </p:cNvPr>
          <p:cNvCxnSpPr>
            <a:cxnSpLocks/>
          </p:cNvCxnSpPr>
          <p:nvPr/>
        </p:nvCxnSpPr>
        <p:spPr>
          <a:xfrm>
            <a:off x="821933" y="195209"/>
            <a:ext cx="0" cy="65651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599470D-BEEA-9BA8-CA9F-B8E665DD0502}"/>
              </a:ext>
            </a:extLst>
          </p:cNvPr>
          <p:cNvSpPr txBox="1"/>
          <p:nvPr/>
        </p:nvSpPr>
        <p:spPr>
          <a:xfrm>
            <a:off x="1339062" y="2382246"/>
            <a:ext cx="7972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00B050"/>
                </a:solidFill>
              </a:rPr>
              <a:t>1 - manual filling : </a:t>
            </a:r>
            <a:endParaRPr lang="en-CA" sz="3200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4D0DEC-F520-9509-5546-AA4A196D856A}"/>
              </a:ext>
            </a:extLst>
          </p:cNvPr>
          <p:cNvSpPr txBox="1"/>
          <p:nvPr/>
        </p:nvSpPr>
        <p:spPr>
          <a:xfrm>
            <a:off x="1339062" y="3381931"/>
            <a:ext cx="74556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00B050"/>
                </a:solidFill>
              </a:rPr>
              <a:t>2 - Remove the less important columns (or those with no effect) :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A51404-516A-0C37-78DB-1A81C41518E3}"/>
              </a:ext>
            </a:extLst>
          </p:cNvPr>
          <p:cNvSpPr txBox="1"/>
          <p:nvPr/>
        </p:nvSpPr>
        <p:spPr>
          <a:xfrm>
            <a:off x="1339062" y="4678647"/>
            <a:ext cx="74556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00B050"/>
                </a:solidFill>
              </a:rPr>
              <a:t>3 – Filling with the most frequent values to preserve the data distribution  :</a:t>
            </a:r>
            <a:r>
              <a:rPr lang="ar-DZ" sz="3200" b="1" dirty="0">
                <a:solidFill>
                  <a:srgbClr val="00B050"/>
                </a:solidFill>
              </a:rPr>
              <a:t> </a:t>
            </a:r>
            <a:endParaRPr lang="en-CA" sz="3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513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7CA786-DBB6-A94C-7B02-EC4F4C44B49C}"/>
              </a:ext>
            </a:extLst>
          </p:cNvPr>
          <p:cNvSpPr txBox="1"/>
          <p:nvPr/>
        </p:nvSpPr>
        <p:spPr>
          <a:xfrm>
            <a:off x="1020563" y="687010"/>
            <a:ext cx="7972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00B050"/>
                </a:solidFill>
              </a:rPr>
              <a:t>2 – manual filling :</a:t>
            </a:r>
            <a:endParaRPr lang="en-CA" sz="3200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80E1E4-9DFC-7169-6DA4-DA2AE7D1FE7E}"/>
              </a:ext>
            </a:extLst>
          </p:cNvPr>
          <p:cNvCxnSpPr>
            <a:cxnSpLocks/>
          </p:cNvCxnSpPr>
          <p:nvPr/>
        </p:nvCxnSpPr>
        <p:spPr>
          <a:xfrm>
            <a:off x="821933" y="195209"/>
            <a:ext cx="0" cy="65651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C274A8-078A-CA48-C5D9-2E6B5040BB64}"/>
              </a:ext>
            </a:extLst>
          </p:cNvPr>
          <p:cNvSpPr txBox="1"/>
          <p:nvPr/>
        </p:nvSpPr>
        <p:spPr>
          <a:xfrm>
            <a:off x="1520575" y="1623317"/>
            <a:ext cx="8578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In our dataset, we have the column 'Gender'; we can infer this column from the 'Name' column , Exam :</a:t>
            </a:r>
            <a:endParaRPr lang="en-CA" sz="3200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C0C16F9-2EE6-A261-B844-487EC180B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7591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054DAB-A004-4532-F515-46CFABB9FBF2}"/>
              </a:ext>
            </a:extLst>
          </p:cNvPr>
          <p:cNvSpPr txBox="1"/>
          <p:nvPr/>
        </p:nvSpPr>
        <p:spPr>
          <a:xfrm>
            <a:off x="2178120" y="3052752"/>
            <a:ext cx="5373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sz="2400" dirty="0"/>
              <a:t>Kristina Douglas </a:t>
            </a:r>
            <a:r>
              <a:rPr lang="en-CA" sz="2400" dirty="0">
                <a:sym typeface="Wingdings" panose="05000000000000000000" pitchFamily="2" charset="2"/>
              </a:rPr>
              <a:t> Female</a:t>
            </a:r>
            <a:endParaRPr lang="en-CA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sz="2400" dirty="0"/>
              <a:t>Emily Torres </a:t>
            </a:r>
            <a:r>
              <a:rPr lang="en-CA" sz="2400" dirty="0">
                <a:sym typeface="Wingdings" panose="05000000000000000000" pitchFamily="2" charset="2"/>
              </a:rPr>
              <a:t> Female</a:t>
            </a:r>
            <a:endParaRPr lang="en-CA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sz="2400" dirty="0"/>
              <a:t>James Anderson </a:t>
            </a:r>
            <a:r>
              <a:rPr lang="en-CA" sz="2400" dirty="0">
                <a:sym typeface="Wingdings" panose="05000000000000000000" pitchFamily="2" charset="2"/>
              </a:rPr>
              <a:t> Male</a:t>
            </a:r>
            <a:endParaRPr lang="en-CA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sz="2400" dirty="0"/>
              <a:t>Jeffrey Meyers  </a:t>
            </a:r>
            <a:r>
              <a:rPr lang="en-CA" sz="2400" dirty="0">
                <a:sym typeface="Wingdings" panose="05000000000000000000" pitchFamily="2" charset="2"/>
              </a:rPr>
              <a:t> Male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93511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F6C329-6E8A-C7B3-D94F-30E54237FC41}"/>
              </a:ext>
            </a:extLst>
          </p:cNvPr>
          <p:cNvSpPr txBox="1"/>
          <p:nvPr/>
        </p:nvSpPr>
        <p:spPr>
          <a:xfrm>
            <a:off x="1020563" y="687010"/>
            <a:ext cx="79727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00B050"/>
                </a:solidFill>
              </a:rPr>
              <a:t>2 - Remove the less important columns (or those with no effect) : </a:t>
            </a:r>
            <a:endParaRPr lang="en-CA" sz="3200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C800BB-7444-48A4-E6F9-4E6026D0D671}"/>
              </a:ext>
            </a:extLst>
          </p:cNvPr>
          <p:cNvCxnSpPr>
            <a:cxnSpLocks/>
          </p:cNvCxnSpPr>
          <p:nvPr/>
        </p:nvCxnSpPr>
        <p:spPr>
          <a:xfrm>
            <a:off x="821933" y="195209"/>
            <a:ext cx="0" cy="65651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631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9ED2F-B0A3-8BF9-DF16-34FDB9E4A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7A9F28-12B7-3B6F-2836-1C435EE32EC4}"/>
              </a:ext>
            </a:extLst>
          </p:cNvPr>
          <p:cNvSpPr txBox="1"/>
          <p:nvPr/>
        </p:nvSpPr>
        <p:spPr>
          <a:xfrm>
            <a:off x="1020563" y="687010"/>
            <a:ext cx="79727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00B050"/>
                </a:solidFill>
              </a:rPr>
              <a:t>3 - Filling with the most frequent values to preserve the data distribution  :</a:t>
            </a:r>
            <a:r>
              <a:rPr lang="ar-DZ" sz="3200" b="1" dirty="0">
                <a:solidFill>
                  <a:srgbClr val="00B050"/>
                </a:solidFill>
              </a:rPr>
              <a:t> </a:t>
            </a:r>
            <a:endParaRPr lang="en-CA" sz="3200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933A36E-A10F-580A-8730-BAB6E3DDA35E}"/>
              </a:ext>
            </a:extLst>
          </p:cNvPr>
          <p:cNvCxnSpPr>
            <a:cxnSpLocks/>
          </p:cNvCxnSpPr>
          <p:nvPr/>
        </p:nvCxnSpPr>
        <p:spPr>
          <a:xfrm>
            <a:off x="821933" y="195209"/>
            <a:ext cx="0" cy="65651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062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FF4B9-5D76-3757-E681-AB5E55FA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FEDEF1-17E0-8254-1433-6A9E7A6B7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638" y="0"/>
            <a:ext cx="564736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89D605-D8D5-B78E-3244-9F2ECF68327D}"/>
              </a:ext>
            </a:extLst>
          </p:cNvPr>
          <p:cNvSpPr txBox="1"/>
          <p:nvPr/>
        </p:nvSpPr>
        <p:spPr>
          <a:xfrm>
            <a:off x="0" y="678094"/>
            <a:ext cx="6096000" cy="336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CA" sz="9600" spc="-50" dirty="0">
                <a:latin typeface="+mj-lt"/>
                <a:ea typeface="+mj-ea"/>
                <a:cs typeface="+mj-cs"/>
              </a:rPr>
              <a:t>Cleaning data step</a:t>
            </a:r>
          </a:p>
          <a:p>
            <a:endParaRPr lang="en-CA" sz="4000" dirty="0"/>
          </a:p>
        </p:txBody>
      </p:sp>
    </p:spTree>
    <p:extLst>
      <p:ext uri="{BB962C8B-B14F-4D97-AF65-F5344CB8AC3E}">
        <p14:creationId xmlns:p14="http://schemas.microsoft.com/office/powerpoint/2010/main" val="1448112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744E23-1859-6EF0-EC29-76990F71D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484" y="136128"/>
            <a:ext cx="7707338" cy="55052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927277-A512-CEB4-875F-C50A5902F5A0}"/>
              </a:ext>
            </a:extLst>
          </p:cNvPr>
          <p:cNvSpPr txBox="1"/>
          <p:nvPr/>
        </p:nvSpPr>
        <p:spPr>
          <a:xfrm>
            <a:off x="1839074" y="6082301"/>
            <a:ext cx="73665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we use it to see distribution of final grade of students and to see if its balanced or not in our case we have good </a:t>
            </a:r>
            <a:r>
              <a:rPr lang="en-CA" sz="2000" dirty="0" err="1"/>
              <a:t>distrubtion</a:t>
            </a:r>
            <a:r>
              <a:rPr lang="en-CA" sz="2000" dirty="0"/>
              <a:t> and no outliers</a:t>
            </a:r>
          </a:p>
        </p:txBody>
      </p:sp>
    </p:spTree>
    <p:extLst>
      <p:ext uri="{BB962C8B-B14F-4D97-AF65-F5344CB8AC3E}">
        <p14:creationId xmlns:p14="http://schemas.microsoft.com/office/powerpoint/2010/main" val="1108333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EBAEC2-DBF8-60E6-5939-5EC72B146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404" y="71919"/>
            <a:ext cx="7953918" cy="56813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C68856-B68E-129D-49F3-1214F374B239}"/>
              </a:ext>
            </a:extLst>
          </p:cNvPr>
          <p:cNvSpPr txBox="1"/>
          <p:nvPr/>
        </p:nvSpPr>
        <p:spPr>
          <a:xfrm>
            <a:off x="1962364" y="6102849"/>
            <a:ext cx="7181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to detect outliers and median and to see how is the </a:t>
            </a:r>
            <a:r>
              <a:rPr lang="en-CA" sz="2000" dirty="0" err="1"/>
              <a:t>destrubtion</a:t>
            </a:r>
            <a:r>
              <a:rPr lang="en-CA" sz="2000" dirty="0"/>
              <a:t> we can see that </a:t>
            </a:r>
            <a:r>
              <a:rPr lang="en-CA" sz="2000" dirty="0" err="1"/>
              <a:t>previious</a:t>
            </a:r>
            <a:r>
              <a:rPr lang="en-CA" sz="2000" dirty="0"/>
              <a:t> and final grade are close overall</a:t>
            </a:r>
          </a:p>
        </p:txBody>
      </p:sp>
    </p:spTree>
    <p:extLst>
      <p:ext uri="{BB962C8B-B14F-4D97-AF65-F5344CB8AC3E}">
        <p14:creationId xmlns:p14="http://schemas.microsoft.com/office/powerpoint/2010/main" val="3396746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2EE46-C7F5-0D20-6504-6BCD13D0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8351C1C-C5EB-3368-DEDA-7BDA1BEB2B46}"/>
              </a:ext>
            </a:extLst>
          </p:cNvPr>
          <p:cNvSpPr txBox="1"/>
          <p:nvPr/>
        </p:nvSpPr>
        <p:spPr>
          <a:xfrm>
            <a:off x="2365621" y="5911246"/>
            <a:ext cx="7181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 to check relation between study hours / week and the final grades Study hours do not strongly predict final grade</a:t>
            </a:r>
            <a:endParaRPr lang="en-CA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6FCDAD-4D12-C235-3836-E410AE1BD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621" y="238868"/>
            <a:ext cx="7460758" cy="532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002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F8874-4E5B-B416-17B3-510D06868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968F01-8ED1-9E56-C959-DE9CD0E0D593}"/>
              </a:ext>
            </a:extLst>
          </p:cNvPr>
          <p:cNvSpPr txBox="1"/>
          <p:nvPr/>
        </p:nvSpPr>
        <p:spPr>
          <a:xfrm>
            <a:off x="2365621" y="5911246"/>
            <a:ext cx="7181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forth Heatmap to see which factors change together and have correlation</a:t>
            </a:r>
            <a:endParaRPr lang="en-CA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37E68B-97D3-97B6-455E-96B52A633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831" y="238868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327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7C4E3-5CD0-6A6B-3CB1-E9FA0AC8D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0B910F-BE41-9432-ACB5-1932B173E2CF}"/>
              </a:ext>
            </a:extLst>
          </p:cNvPr>
          <p:cNvSpPr txBox="1"/>
          <p:nvPr/>
        </p:nvSpPr>
        <p:spPr>
          <a:xfrm>
            <a:off x="2365621" y="5911246"/>
            <a:ext cx="7181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last plot is the bar plot to compare grades of </a:t>
            </a:r>
            <a:r>
              <a:rPr lang="en-CA" sz="2000" dirty="0" err="1"/>
              <a:t>paretnail</a:t>
            </a:r>
            <a:r>
              <a:rPr lang="en-CA" sz="2000" dirty="0"/>
              <a:t> support to see if it helps with </a:t>
            </a:r>
            <a:r>
              <a:rPr lang="en-CA" sz="2000" dirty="0" err="1"/>
              <a:t>fianl</a:t>
            </a:r>
            <a:r>
              <a:rPr lang="en-CA" sz="2000" dirty="0"/>
              <a:t> grade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F813F-E976-66CF-054A-3E23ADDC6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854" y="238868"/>
            <a:ext cx="7522403" cy="537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132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694</Words>
  <Application>Microsoft Office PowerPoint</Application>
  <PresentationFormat>Widescreen</PresentationFormat>
  <Paragraphs>103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taher smida</dc:creator>
  <cp:lastModifiedBy>taher smida</cp:lastModifiedBy>
  <cp:revision>16</cp:revision>
  <dcterms:created xsi:type="dcterms:W3CDTF">2025-11-22T17:30:49Z</dcterms:created>
  <dcterms:modified xsi:type="dcterms:W3CDTF">2025-11-24T20:14:39Z</dcterms:modified>
</cp:coreProperties>
</file>