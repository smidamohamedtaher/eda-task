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0" r:id="rId4"/>
    <p:sldId id="261" r:id="rId5"/>
    <p:sldId id="266" r:id="rId6"/>
    <p:sldId id="267" r:id="rId7"/>
    <p:sldId id="269" r:id="rId8"/>
    <p:sldId id="268" r:id="rId9"/>
    <p:sldId id="272" r:id="rId10"/>
    <p:sldId id="270" r:id="rId11"/>
    <p:sldId id="271" r:id="rId12"/>
    <p:sldId id="273" r:id="rId13"/>
    <p:sldId id="274" r:id="rId14"/>
    <p:sldId id="275" r:id="rId15"/>
    <p:sldId id="276" r:id="rId16"/>
    <p:sldId id="277" r:id="rId17"/>
    <p:sldId id="278" r:id="rId18"/>
    <p:sldId id="279" r:id="rId1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62" d="100"/>
          <a:sy n="62" d="100"/>
        </p:scale>
        <p:origin x="828" y="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7FFF36-28FC-E2D2-6F84-DA4028B8FD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1AF7488-36A8-D8B4-BC2A-FEA12FA1BF4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ED5891A-9E01-39D5-9258-6BE6A0E34C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168ED7-7ABD-4B4F-A36D-3F55B8493473}" type="datetimeFigureOut">
              <a:rPr lang="en-CA" smtClean="0"/>
              <a:t>2025-11-28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31F380-12DA-8336-86BF-F0C651FA14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9F2F7CB-C4A4-CF9C-478A-DD01AB5B73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E56FF2-D255-4E52-AD68-86E1A8AC645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43541450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396439-E798-07F3-2FA6-2530AC68A8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EFD5EB-7069-1458-D0B3-B5CE1F769A5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B85BF90-447D-3838-1681-90F1734AAD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168ED7-7ABD-4B4F-A36D-3F55B8493473}" type="datetimeFigureOut">
              <a:rPr lang="en-CA" smtClean="0"/>
              <a:t>2025-11-28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C3D7900-17AF-3137-B870-E0A7AAC94C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6D6F5D-087F-5F8A-DB7B-1D40F141F7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E56FF2-D255-4E52-AD68-86E1A8AC645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8214256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55061D-4F4D-0EBA-29D7-7D7D251317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F5A6B99-A6D2-7C7A-4244-699B0738B01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E64C38C-0AA8-C322-530F-52A74C15CA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168ED7-7ABD-4B4F-A36D-3F55B8493473}" type="datetimeFigureOut">
              <a:rPr lang="en-CA" smtClean="0"/>
              <a:t>2025-11-28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F4B8916-405E-AC9A-661E-6F45DBDC91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BBF856-9500-5B58-BFE2-AFB5596B7C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E56FF2-D255-4E52-AD68-86E1A8AC645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542666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6794AF-6858-D1F3-219D-61BF2C645B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B18286-BE30-96CE-D50F-FD82D26BEAA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FFE831A-0466-6436-52F1-4E78A97FE03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72D5AEE-3210-C21F-3F3D-7649A688C2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168ED7-7ABD-4B4F-A36D-3F55B8493473}" type="datetimeFigureOut">
              <a:rPr lang="en-CA" smtClean="0"/>
              <a:t>2025-11-28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C24AF04-88EC-1C3C-61C6-4A4F5B9C9D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AC98587-D5DA-538D-DE85-28C470FA7C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E56FF2-D255-4E52-AD68-86E1A8AC645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4753823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05C34E-2697-480E-B25A-72778F182F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3AC2A8F-65C7-6EBB-D9A9-A71BD7A5867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D697262-A83C-EA62-B9E7-5FF287BD887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1C40A60-D8B1-0595-7C6A-92689BF222B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D934D99-9CB6-8361-C163-32EEEC7749C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C6342D7-D758-430F-9C97-94A17E9808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168ED7-7ABD-4B4F-A36D-3F55B8493473}" type="datetimeFigureOut">
              <a:rPr lang="en-CA" smtClean="0"/>
              <a:t>2025-11-28</a:t>
            </a:fld>
            <a:endParaRPr lang="en-CA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CE5A335-1C3F-78A1-1ED7-6B3E368292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8C28B48-290B-FDF3-F2DB-98DD9EAA06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E56FF2-D255-4E52-AD68-86E1A8AC645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574399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D781FC-8BE7-3E49-E462-C3BF674B8A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CA42193-B975-E585-DD0C-12646B494E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168ED7-7ABD-4B4F-A36D-3F55B8493473}" type="datetimeFigureOut">
              <a:rPr lang="en-CA" smtClean="0"/>
              <a:t>2025-11-28</a:t>
            </a:fld>
            <a:endParaRPr lang="en-C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0EE095A-FE0C-FD78-A10A-79D4BE7A0D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50E98C8-35EA-F8FF-935A-F7AB5C55CB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E56FF2-D255-4E52-AD68-86E1A8AC645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0748954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CC45281-CAA8-2D57-28B3-6BCF068A32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168ED7-7ABD-4B4F-A36D-3F55B8493473}" type="datetimeFigureOut">
              <a:rPr lang="en-CA" smtClean="0"/>
              <a:t>2025-11-28</a:t>
            </a:fld>
            <a:endParaRPr lang="en-CA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8B0EDDE-DC5E-130F-B8E2-31F1680A72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908D49-7B88-619B-46AB-7983CD680D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E56FF2-D255-4E52-AD68-86E1A8AC645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3264326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3A5FFE-86D6-AFD2-404E-A84D319CCA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FE327D-7158-55B4-58BB-B620419279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D27BB3F-3B59-62D8-3BA0-6E3451B3797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C16BB27-6AC9-17C6-F560-DE015945CF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168ED7-7ABD-4B4F-A36D-3F55B8493473}" type="datetimeFigureOut">
              <a:rPr lang="en-CA" smtClean="0"/>
              <a:t>2025-11-28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62A12BA-C9AE-D928-9AA4-A7C8CB771F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AB815D5-9A7C-9949-E768-382353515F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E56FF2-D255-4E52-AD68-86E1A8AC645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72000451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ADAEC5-00B9-1BFD-117B-9033E4D1D1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DDAD89D-F970-7DE9-82B4-517F8D6C518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22F8A05-4D70-A85D-FB5E-24E3804A0C7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7DC51C6-F78E-BED5-4596-1180E5ABD6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168ED7-7ABD-4B4F-A36D-3F55B8493473}" type="datetimeFigureOut">
              <a:rPr lang="en-CA" smtClean="0"/>
              <a:t>2025-11-28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23792E5-59DE-5704-A47F-FFBE1696AC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428A7A0-0984-30D8-BBC4-7AFA24C302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E56FF2-D255-4E52-AD68-86E1A8AC645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23120129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2C9734-B699-526D-013C-462950AB73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0BD9901-BA13-C25D-B906-761AA1F0CBE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C4755B6-5850-FD11-6C16-B021D0C2AD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168ED7-7ABD-4B4F-A36D-3F55B8493473}" type="datetimeFigureOut">
              <a:rPr lang="en-CA" smtClean="0"/>
              <a:t>2025-11-28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97EF54-34A8-A0C6-1F2D-E564344A65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E2142E4-D9AE-E949-9471-608223F6EE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E56FF2-D255-4E52-AD68-86E1A8AC645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36731467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F3FFEDE-2E35-BDED-219D-15C47C86F48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2828592-A8AB-E646-D870-48B570AE82E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F6B80C-B9BB-63F1-D357-4DAFB998BB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168ED7-7ABD-4B4F-A36D-3F55B8493473}" type="datetimeFigureOut">
              <a:rPr lang="en-CA" smtClean="0"/>
              <a:t>2025-11-28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CE3A33-ECA2-A510-B9DC-343258CC80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4769C1-C241-8B35-DC54-122A0AC9AE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E56FF2-D255-4E52-AD68-86E1A8AC645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58453766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37338DD-40FD-B82A-29F5-3130D04261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94E3E92-D8EB-0D92-0517-4D5801503C2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9FDB991-84C5-548A-4120-DD877282014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5168ED7-7ABD-4B4F-A36D-3F55B8493473}" type="datetimeFigureOut">
              <a:rPr lang="en-CA" smtClean="0"/>
              <a:t>2025-11-28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C8D400-B5B9-8B1A-9D7F-9E00B2647BB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D0F877F-1BC7-AF53-7F9C-4D9FBEC02B8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BE56FF2-D255-4E52-AD68-86E1A8AC645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0869747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DC9BD02A-456F-1C70-7BF5-0354E75BAC6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5599416" cy="685800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26679902-1B7B-B02E-3804-484BE8B79C1A}"/>
              </a:ext>
            </a:extLst>
          </p:cNvPr>
          <p:cNvSpPr txBox="1"/>
          <p:nvPr/>
        </p:nvSpPr>
        <p:spPr>
          <a:xfrm>
            <a:off x="6096000" y="667820"/>
            <a:ext cx="5599416" cy="40318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</a:pPr>
            <a:r>
              <a:rPr lang="en-CA" sz="8000" spc="-50" dirty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rPr>
              <a:t>Student Performance Dataset</a:t>
            </a:r>
          </a:p>
          <a:p>
            <a:endParaRPr lang="en-CA" sz="4000" dirty="0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1FBD6C8E-87CF-8DE7-079F-4B589D924BFE}"/>
              </a:ext>
            </a:extLst>
          </p:cNvPr>
          <p:cNvCxnSpPr/>
          <p:nvPr/>
        </p:nvCxnSpPr>
        <p:spPr>
          <a:xfrm>
            <a:off x="6096000" y="4787757"/>
            <a:ext cx="5822022" cy="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D7C6EF06-7B56-8325-F1C8-3CF1DC106E3B}"/>
              </a:ext>
            </a:extLst>
          </p:cNvPr>
          <p:cNvSpPr txBox="1"/>
          <p:nvPr/>
        </p:nvSpPr>
        <p:spPr>
          <a:xfrm>
            <a:off x="6256962" y="5291191"/>
            <a:ext cx="279457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By :</a:t>
            </a:r>
            <a:endParaRPr lang="en-CA" b="1" u="sng" dirty="0"/>
          </a:p>
          <a:p>
            <a:pPr marL="285750" indent="-285750">
              <a:buFontTx/>
              <a:buChar char="-"/>
            </a:pPr>
            <a:r>
              <a:rPr lang="en-CA" b="1" u="sng" dirty="0"/>
              <a:t>Sami Youcef </a:t>
            </a:r>
          </a:p>
          <a:p>
            <a:pPr marL="285750" indent="-285750">
              <a:buFontTx/>
              <a:buChar char="-"/>
            </a:pPr>
            <a:r>
              <a:rPr lang="en-CA" b="1" u="sng" dirty="0"/>
              <a:t>Smida Mohamed taher 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33578317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24421F80-E30D-AE82-EDF5-DD0506795BEE}"/>
              </a:ext>
            </a:extLst>
          </p:cNvPr>
          <p:cNvCxnSpPr>
            <a:cxnSpLocks/>
          </p:cNvCxnSpPr>
          <p:nvPr/>
        </p:nvCxnSpPr>
        <p:spPr>
          <a:xfrm>
            <a:off x="821933" y="195209"/>
            <a:ext cx="0" cy="6565187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67DCB988-9FEE-B7DA-CAC5-E20F0DA46022}"/>
              </a:ext>
            </a:extLst>
          </p:cNvPr>
          <p:cNvSpPr txBox="1"/>
          <p:nvPr/>
        </p:nvSpPr>
        <p:spPr>
          <a:xfrm>
            <a:off x="1387011" y="534256"/>
            <a:ext cx="302060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b="1" dirty="0">
                <a:solidFill>
                  <a:srgbClr val="FF0000"/>
                </a:solidFill>
              </a:rPr>
              <a:t>- </a:t>
            </a:r>
            <a:r>
              <a:rPr lang="en-CA" sz="3600" b="1" dirty="0">
                <a:solidFill>
                  <a:srgbClr val="FF0000"/>
                </a:solidFill>
              </a:rPr>
              <a:t>Overview :</a:t>
            </a:r>
            <a:endParaRPr lang="en-CA" b="1" dirty="0">
              <a:solidFill>
                <a:srgbClr val="FF0000"/>
              </a:solidFill>
            </a:endParaRPr>
          </a:p>
        </p:txBody>
      </p:sp>
      <p:sp>
        <p:nvSpPr>
          <p:cNvPr id="7" name="TextBox 5">
            <a:extLst>
              <a:ext uri="{FF2B5EF4-FFF2-40B4-BE49-F238E27FC236}">
                <a16:creationId xmlns:a16="http://schemas.microsoft.com/office/drawing/2014/main" id="{67DCB988-9FEE-B7DA-CAC5-E20F0DA46022}"/>
              </a:ext>
            </a:extLst>
          </p:cNvPr>
          <p:cNvSpPr txBox="1"/>
          <p:nvPr/>
        </p:nvSpPr>
        <p:spPr>
          <a:xfrm>
            <a:off x="1236323" y="3429000"/>
            <a:ext cx="302060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3600" b="1" dirty="0">
                <a:solidFill>
                  <a:srgbClr val="FF0000"/>
                </a:solidFill>
              </a:rPr>
              <a:t>- </a:t>
            </a:r>
            <a:r>
              <a:rPr lang="en-CA" sz="3600" b="1" dirty="0">
                <a:solidFill>
                  <a:srgbClr val="FF0000"/>
                </a:solidFill>
              </a:rPr>
              <a:t>target :</a:t>
            </a:r>
            <a:endParaRPr lang="en-CA" b="1" dirty="0">
              <a:solidFill>
                <a:srgbClr val="FF0000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4C50265-A95F-A357-8F10-01B15524B5FC}"/>
              </a:ext>
            </a:extLst>
          </p:cNvPr>
          <p:cNvSpPr txBox="1"/>
          <p:nvPr/>
        </p:nvSpPr>
        <p:spPr>
          <a:xfrm>
            <a:off x="1387012" y="4075331"/>
            <a:ext cx="7880278" cy="22159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400" dirty="0"/>
              <a:t>we can say that this database seeks to see if </a:t>
            </a:r>
            <a:r>
              <a:rPr lang="en-CA" sz="2400" dirty="0" err="1"/>
              <a:t>specefic</a:t>
            </a:r>
            <a:r>
              <a:rPr lang="en-CA" sz="2400" dirty="0"/>
              <a:t> manners affect student performance such as getting helped by parent or go to school or </a:t>
            </a:r>
            <a:r>
              <a:rPr lang="en-CA" sz="2400" dirty="0" err="1"/>
              <a:t>studing</a:t>
            </a:r>
            <a:r>
              <a:rPr lang="en-CA" sz="2400" dirty="0"/>
              <a:t> more the main thing the data base wants is to check performance (Final grade) to see how we can help students to get better grades . </a:t>
            </a:r>
          </a:p>
          <a:p>
            <a:endParaRPr lang="en-CA" dirty="0"/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5CBB0B11-C2F0-E01D-DD43-824A27A91F6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82100" y="-97604"/>
            <a:ext cx="3009900" cy="68580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655316A-1B44-79CF-C100-E4F1C1081AE4}"/>
              </a:ext>
            </a:extLst>
          </p:cNvPr>
          <p:cNvSpPr txBox="1"/>
          <p:nvPr/>
        </p:nvSpPr>
        <p:spPr>
          <a:xfrm>
            <a:off x="1236323" y="1261811"/>
            <a:ext cx="7880278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400" dirty="0"/>
              <a:t>this database seeks to see if </a:t>
            </a:r>
            <a:r>
              <a:rPr lang="en-CA" sz="2400" dirty="0" err="1"/>
              <a:t>specefic</a:t>
            </a:r>
            <a:r>
              <a:rPr lang="en-CA" sz="2400" dirty="0"/>
              <a:t> manners affect student performance such as getting helped by parent or go to school or </a:t>
            </a:r>
            <a:r>
              <a:rPr lang="en-CA" sz="2400" dirty="0" err="1"/>
              <a:t>studing</a:t>
            </a:r>
            <a:r>
              <a:rPr lang="en-CA" sz="2400" dirty="0"/>
              <a:t> more the main thing the data base wants is to check performance (Final grade) to see how we can help students to get better grades</a:t>
            </a:r>
          </a:p>
        </p:txBody>
      </p:sp>
    </p:spTree>
    <p:extLst>
      <p:ext uri="{BB962C8B-B14F-4D97-AF65-F5344CB8AC3E}">
        <p14:creationId xmlns:p14="http://schemas.microsoft.com/office/powerpoint/2010/main" val="131075835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7C0CCE-564F-9123-81E1-AE89A8C84B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04E1DB4-52ED-7A11-C6F5-8C5284D5B626}"/>
              </a:ext>
            </a:extLst>
          </p:cNvPr>
          <p:cNvSpPr txBox="1"/>
          <p:nvPr/>
        </p:nvSpPr>
        <p:spPr>
          <a:xfrm>
            <a:off x="3589105" y="226032"/>
            <a:ext cx="501378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b="1" dirty="0">
                <a:solidFill>
                  <a:srgbClr val="FF0000"/>
                </a:solidFill>
              </a:rPr>
              <a:t>The features :</a:t>
            </a:r>
            <a:endParaRPr lang="en-CA" sz="3600" b="1" dirty="0">
              <a:solidFill>
                <a:srgbClr val="FF0000"/>
              </a:solidFill>
            </a:endParaRP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E76ADF7B-BBD2-2A8E-0EC4-FAED49E610F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61049027"/>
              </p:ext>
            </p:extLst>
          </p:nvPr>
        </p:nvGraphicFramePr>
        <p:xfrm>
          <a:off x="688369" y="861148"/>
          <a:ext cx="10828961" cy="5760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38804">
                  <a:extLst>
                    <a:ext uri="{9D8B030D-6E8A-4147-A177-3AD203B41FA5}">
                      <a16:colId xmlns:a16="http://schemas.microsoft.com/office/drawing/2014/main" val="900049784"/>
                    </a:ext>
                  </a:extLst>
                </a:gridCol>
                <a:gridCol w="7390157">
                  <a:extLst>
                    <a:ext uri="{9D8B030D-6E8A-4147-A177-3AD203B41FA5}">
                      <a16:colId xmlns:a16="http://schemas.microsoft.com/office/drawing/2014/main" val="92855731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2400" dirty="0"/>
                        <a:t>The feature</a:t>
                      </a:r>
                      <a:endParaRPr lang="en-CA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400" dirty="0"/>
                        <a:t>The meaning </a:t>
                      </a:r>
                      <a:endParaRPr lang="en-CA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133062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2400" b="1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studentID</a:t>
                      </a:r>
                      <a:endParaRPr lang="en-CA" sz="2400" b="1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 sz="2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 </a:t>
                      </a:r>
                      <a:r>
                        <a:rPr lang="en-CA" sz="24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numiercal</a:t>
                      </a:r>
                      <a:r>
                        <a:rPr lang="en-CA" sz="2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number (float) to tell the </a:t>
                      </a:r>
                      <a:r>
                        <a:rPr lang="en-CA" sz="24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specefic</a:t>
                      </a:r>
                      <a:r>
                        <a:rPr lang="en-CA" sz="2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student </a:t>
                      </a:r>
                      <a:r>
                        <a:rPr lang="en-CA" sz="24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wer</a:t>
                      </a:r>
                      <a:r>
                        <a:rPr lang="en-CA" sz="2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working on . and it is not important for predictions</a:t>
                      </a:r>
                      <a:endParaRPr lang="en-CA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4186805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2400" b="1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Name</a:t>
                      </a:r>
                      <a:endParaRPr lang="en-CA" sz="2400" b="1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 sz="2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real name (string) for more </a:t>
                      </a:r>
                      <a:r>
                        <a:rPr lang="en-CA" sz="24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spefic</a:t>
                      </a:r>
                      <a:r>
                        <a:rPr lang="en-CA" sz="2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work also not </a:t>
                      </a:r>
                      <a:r>
                        <a:rPr lang="en-CA" sz="24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importnet</a:t>
                      </a:r>
                      <a:r>
                        <a:rPr lang="en-CA" sz="2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for predictions</a:t>
                      </a:r>
                      <a:endParaRPr lang="en-CA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33787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2400" b="1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Gender</a:t>
                      </a:r>
                      <a:endParaRPr lang="en-CA" sz="2400" b="1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 sz="2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sex : male or female to see the better one at studying , we can see also that males are </a:t>
                      </a:r>
                      <a:r>
                        <a:rPr lang="en-CA" sz="24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slighty</a:t>
                      </a:r>
                      <a:r>
                        <a:rPr lang="en-CA" sz="2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more by 5%</a:t>
                      </a:r>
                      <a:endParaRPr lang="en-CA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355849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CA" sz="2400" b="1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AttendanceRate</a:t>
                      </a:r>
                      <a:endParaRPr lang="en-CA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 sz="2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 float percentage from 0 to 100 to see how often the student go to school to know if going to school helps or no its important for predictions</a:t>
                      </a:r>
                      <a:endParaRPr lang="en-CA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809430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CA" sz="2400" b="1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StudyHoursPerWeek</a:t>
                      </a:r>
                      <a:endParaRPr lang="en-CA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 sz="2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 number of the hours (float) the student studies each week to see if going more is helpful</a:t>
                      </a:r>
                      <a:endParaRPr lang="en-CA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4891865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CA" sz="2400" b="1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PreviousGrade</a:t>
                      </a:r>
                      <a:endParaRPr lang="en-CA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 sz="2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the student old exam points (float) to see if he changed or still the same</a:t>
                      </a:r>
                      <a:endParaRPr lang="en-CA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044422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1154394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608960-1C5F-C4AA-42EF-2A1F1C17E3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686AD49-C3B7-9610-894C-F6BA0E7E2FB6}"/>
              </a:ext>
            </a:extLst>
          </p:cNvPr>
          <p:cNvSpPr txBox="1"/>
          <p:nvPr/>
        </p:nvSpPr>
        <p:spPr>
          <a:xfrm>
            <a:off x="3589105" y="226032"/>
            <a:ext cx="501378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b="1" dirty="0">
                <a:solidFill>
                  <a:srgbClr val="FF0000"/>
                </a:solidFill>
              </a:rPr>
              <a:t>The features :</a:t>
            </a:r>
            <a:endParaRPr lang="en-CA" sz="3600" b="1" dirty="0">
              <a:solidFill>
                <a:srgbClr val="FF0000"/>
              </a:solidFill>
            </a:endParaRP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7C9BB9D6-21D2-A41C-F37E-080EDCC9F60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09256252"/>
              </p:ext>
            </p:extLst>
          </p:nvPr>
        </p:nvGraphicFramePr>
        <p:xfrm>
          <a:off x="928098" y="914400"/>
          <a:ext cx="10335802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82198">
                  <a:extLst>
                    <a:ext uri="{9D8B030D-6E8A-4147-A177-3AD203B41FA5}">
                      <a16:colId xmlns:a16="http://schemas.microsoft.com/office/drawing/2014/main" val="900049784"/>
                    </a:ext>
                  </a:extLst>
                </a:gridCol>
                <a:gridCol w="7053604">
                  <a:extLst>
                    <a:ext uri="{9D8B030D-6E8A-4147-A177-3AD203B41FA5}">
                      <a16:colId xmlns:a16="http://schemas.microsoft.com/office/drawing/2014/main" val="92855731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2400" dirty="0"/>
                        <a:t>The feature</a:t>
                      </a:r>
                      <a:endParaRPr lang="en-CA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400" dirty="0"/>
                        <a:t>The meaning </a:t>
                      </a:r>
                      <a:endParaRPr lang="en-CA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133062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A" sz="2400" b="1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ExtracurricularActivities</a:t>
                      </a:r>
                      <a:endParaRPr lang="en-CA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A" sz="2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number of activities the student participates in sport.. to see if </a:t>
                      </a:r>
                      <a:r>
                        <a:rPr lang="en-CA" sz="24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activies</a:t>
                      </a:r>
                      <a:r>
                        <a:rPr lang="en-CA" sz="2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help</a:t>
                      </a:r>
                      <a:endParaRPr lang="en-CA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533204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A" sz="2400" b="1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ParentalSupport</a:t>
                      </a:r>
                      <a:endParaRPr lang="en-CA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A" sz="2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Level of support at home (Low / Medium / High) to see if getting supported helps we use it in predictions</a:t>
                      </a:r>
                      <a:endParaRPr lang="en-CA" sz="2400" dirty="0"/>
                    </a:p>
                    <a:p>
                      <a:endParaRPr lang="en-CA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571904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CA" sz="2400" b="1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FinalGrade</a:t>
                      </a:r>
                      <a:endParaRPr lang="en-CA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fontAlgn="ctr">
                        <a:buNone/>
                      </a:pPr>
                      <a:r>
                        <a:rPr lang="en-CA" sz="2400" dirty="0">
                          <a:effectLst/>
                        </a:rPr>
                        <a:t>the student final score in the class which is the most important thing we are looking for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9255952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CA" sz="2400" b="1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Study Hours</a:t>
                      </a:r>
                      <a:endParaRPr lang="en-CA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 sz="2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the study-hours per day this time to see daily vs weekly</a:t>
                      </a:r>
                      <a:endParaRPr lang="en-CA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3880452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CA" sz="2400" b="1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Attendance (%)</a:t>
                      </a:r>
                      <a:endParaRPr lang="en-CA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 sz="2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attendance percentage for online classes</a:t>
                      </a:r>
                      <a:endParaRPr lang="en-CA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630788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CA" sz="2400" b="1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Online Classes Taken</a:t>
                      </a:r>
                      <a:endParaRPr lang="en-CA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 sz="2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 </a:t>
                      </a:r>
                      <a:r>
                        <a:rPr lang="en-CA" sz="24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boolean</a:t>
                      </a:r>
                      <a:r>
                        <a:rPr lang="en-CA" sz="2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true or false to see if taking online exams helps the student in points and we use it in predictions</a:t>
                      </a:r>
                      <a:endParaRPr lang="en-CA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3553779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9728732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D41F050-D977-BE5E-B1E1-1933A291E7F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44638" y="0"/>
            <a:ext cx="5647362" cy="68580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317C0E3-3C06-AAC3-999E-C627F6EC2B01}"/>
              </a:ext>
            </a:extLst>
          </p:cNvPr>
          <p:cNvSpPr txBox="1"/>
          <p:nvPr/>
        </p:nvSpPr>
        <p:spPr>
          <a:xfrm>
            <a:off x="0" y="678094"/>
            <a:ext cx="6096000" cy="33670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</a:pPr>
            <a:r>
              <a:rPr lang="en-CA" sz="9600" spc="-50" dirty="0">
                <a:latin typeface="+mj-lt"/>
                <a:ea typeface="+mj-ea"/>
                <a:cs typeface="+mj-cs"/>
              </a:rPr>
              <a:t>Cleaning data step</a:t>
            </a:r>
          </a:p>
          <a:p>
            <a:endParaRPr lang="en-CA" sz="4000" dirty="0"/>
          </a:p>
        </p:txBody>
      </p:sp>
    </p:spTree>
    <p:extLst>
      <p:ext uri="{BB962C8B-B14F-4D97-AF65-F5344CB8AC3E}">
        <p14:creationId xmlns:p14="http://schemas.microsoft.com/office/powerpoint/2010/main" val="394386562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C450AACB-90D0-8F13-AE22-C29C8C6B1F5E}"/>
              </a:ext>
            </a:extLst>
          </p:cNvPr>
          <p:cNvSpPr txBox="1"/>
          <p:nvPr/>
        </p:nvSpPr>
        <p:spPr>
          <a:xfrm>
            <a:off x="2989780" y="277403"/>
            <a:ext cx="4685016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4400" dirty="0">
                <a:solidFill>
                  <a:srgbClr val="FF0000"/>
                </a:solidFill>
              </a:rPr>
              <a:t>Missing data</a:t>
            </a:r>
            <a:endParaRPr lang="en-CA" sz="4400" dirty="0">
              <a:solidFill>
                <a:srgbClr val="FF0000"/>
              </a:solidFill>
            </a:endParaRP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B7845DFC-73F3-00FB-B911-AFE7478D0DC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75394096"/>
              </p:ext>
            </p:extLst>
          </p:nvPr>
        </p:nvGraphicFramePr>
        <p:xfrm>
          <a:off x="1625314" y="1018540"/>
          <a:ext cx="7413948" cy="4820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71316">
                  <a:extLst>
                    <a:ext uri="{9D8B030D-6E8A-4147-A177-3AD203B41FA5}">
                      <a16:colId xmlns:a16="http://schemas.microsoft.com/office/drawing/2014/main" val="2541501573"/>
                    </a:ext>
                  </a:extLst>
                </a:gridCol>
                <a:gridCol w="2471316">
                  <a:extLst>
                    <a:ext uri="{9D8B030D-6E8A-4147-A177-3AD203B41FA5}">
                      <a16:colId xmlns:a16="http://schemas.microsoft.com/office/drawing/2014/main" val="3919241593"/>
                    </a:ext>
                  </a:extLst>
                </a:gridCol>
                <a:gridCol w="2471316">
                  <a:extLst>
                    <a:ext uri="{9D8B030D-6E8A-4147-A177-3AD203B41FA5}">
                      <a16:colId xmlns:a16="http://schemas.microsoft.com/office/drawing/2014/main" val="334847716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The feature</a:t>
                      </a:r>
                      <a:endParaRPr lang="en-CA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Data types</a:t>
                      </a:r>
                      <a:endParaRPr lang="en-CA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Num missing data </a:t>
                      </a:r>
                      <a:endParaRPr lang="en-CA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4254764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A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StudentID</a:t>
                      </a:r>
                      <a:r>
                        <a:rPr lang="en-CA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A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float64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A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1707591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A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A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object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34</a:t>
                      </a:r>
                      <a:endParaRPr lang="en-CA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0925625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A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Gender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A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object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48</a:t>
                      </a:r>
                      <a:endParaRPr lang="en-CA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731273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A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AttendanceRate</a:t>
                      </a:r>
                      <a:endParaRPr lang="en-CA" sz="18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A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float64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40</a:t>
                      </a:r>
                      <a:endParaRPr lang="en-CA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969956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A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StudyHoursPerWeek</a:t>
                      </a:r>
                      <a:endParaRPr lang="en-CA" sz="18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A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float64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50</a:t>
                      </a:r>
                      <a:endParaRPr lang="en-CA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393926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A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PreviousGrade</a:t>
                      </a:r>
                      <a:endParaRPr lang="en-CA" sz="18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A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float64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33</a:t>
                      </a:r>
                      <a:endParaRPr lang="en-CA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1172035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A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ExtracurricularActivities</a:t>
                      </a:r>
                      <a:endParaRPr lang="en-CA" sz="18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A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float64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43</a:t>
                      </a:r>
                      <a:endParaRPr lang="en-CA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917609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A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ParentalSupport</a:t>
                      </a:r>
                      <a:endParaRPr lang="en-CA" sz="18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A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object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22</a:t>
                      </a:r>
                      <a:endParaRPr lang="en-CA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8540401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A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FinalGrade</a:t>
                      </a:r>
                      <a:endParaRPr lang="en-CA" sz="18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A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float64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40</a:t>
                      </a:r>
                      <a:endParaRPr lang="en-CA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226957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A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Study Hours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float64</a:t>
                      </a:r>
                      <a:endParaRPr lang="en-CA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24</a:t>
                      </a:r>
                      <a:endParaRPr lang="en-CA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73166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A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Attendance (%)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float64</a:t>
                      </a:r>
                      <a:endParaRPr lang="en-CA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41</a:t>
                      </a:r>
                      <a:endParaRPr lang="en-CA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396306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A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Online Classes Taken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A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object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25</a:t>
                      </a:r>
                      <a:endParaRPr lang="en-CA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057001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6828131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C19682-85B0-8EE3-4F74-74B3D313BC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C8823882-FE09-34CF-9290-B2C4225C94C0}"/>
              </a:ext>
            </a:extLst>
          </p:cNvPr>
          <p:cNvCxnSpPr>
            <a:cxnSpLocks/>
          </p:cNvCxnSpPr>
          <p:nvPr/>
        </p:nvCxnSpPr>
        <p:spPr>
          <a:xfrm>
            <a:off x="821933" y="195209"/>
            <a:ext cx="0" cy="6565187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241E7243-A8E2-BAD6-F4C0-9C8C96CB54EC}"/>
              </a:ext>
            </a:extLst>
          </p:cNvPr>
          <p:cNvSpPr txBox="1"/>
          <p:nvPr/>
        </p:nvSpPr>
        <p:spPr>
          <a:xfrm>
            <a:off x="1020565" y="318499"/>
            <a:ext cx="644189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b="1" dirty="0">
                <a:solidFill>
                  <a:srgbClr val="FF0000"/>
                </a:solidFill>
              </a:rPr>
              <a:t>- </a:t>
            </a:r>
            <a:r>
              <a:rPr lang="en-CA" sz="3600" b="1" dirty="0">
                <a:solidFill>
                  <a:srgbClr val="FF0000"/>
                </a:solidFill>
              </a:rPr>
              <a:t>Cleaning the numerical data :</a:t>
            </a:r>
            <a:endParaRPr lang="en-CA" b="1" dirty="0">
              <a:solidFill>
                <a:srgbClr val="FF0000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EBE09EF-C20D-788C-52C8-EF3494255533}"/>
              </a:ext>
            </a:extLst>
          </p:cNvPr>
          <p:cNvSpPr txBox="1"/>
          <p:nvPr/>
        </p:nvSpPr>
        <p:spPr>
          <a:xfrm>
            <a:off x="1020565" y="1097424"/>
            <a:ext cx="788027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400" dirty="0"/>
              <a:t> In the case of digital data, we fill in the missing data with the average in order to maintain the data distribution.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8963107-70DB-0FB7-C97A-8EC8AFE9E19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1012" y="2387557"/>
            <a:ext cx="3691821" cy="3262842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5FEFA8A0-062C-BF15-697D-B863E93AB0A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04237" y="2387557"/>
            <a:ext cx="3796289" cy="326160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16BC8362-B358-09DE-2B5E-BDF9BBB3F2D9}"/>
              </a:ext>
            </a:extLst>
          </p:cNvPr>
          <p:cNvSpPr txBox="1"/>
          <p:nvPr/>
        </p:nvSpPr>
        <p:spPr>
          <a:xfrm>
            <a:off x="3070674" y="6129894"/>
            <a:ext cx="116098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dirty="0"/>
              <a:t>Before</a:t>
            </a:r>
            <a:r>
              <a:rPr lang="en-CA" sz="2400" dirty="0"/>
              <a:t> </a:t>
            </a:r>
            <a:endParaRPr lang="en-GB" sz="24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8B729AC-9D31-AD72-9F99-1DE519F9C34D}"/>
              </a:ext>
            </a:extLst>
          </p:cNvPr>
          <p:cNvSpPr txBox="1"/>
          <p:nvPr/>
        </p:nvSpPr>
        <p:spPr>
          <a:xfrm>
            <a:off x="8156530" y="6129892"/>
            <a:ext cx="116098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dirty="0"/>
              <a:t>After </a:t>
            </a:r>
          </a:p>
        </p:txBody>
      </p:sp>
    </p:spTree>
    <p:extLst>
      <p:ext uri="{BB962C8B-B14F-4D97-AF65-F5344CB8AC3E}">
        <p14:creationId xmlns:p14="http://schemas.microsoft.com/office/powerpoint/2010/main" val="95366357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7B949CE-D167-55A4-6A19-69D951272FB1}"/>
              </a:ext>
            </a:extLst>
          </p:cNvPr>
          <p:cNvSpPr txBox="1"/>
          <p:nvPr/>
        </p:nvSpPr>
        <p:spPr>
          <a:xfrm>
            <a:off x="1339063" y="337335"/>
            <a:ext cx="679806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b="1" dirty="0">
                <a:solidFill>
                  <a:srgbClr val="FF0000"/>
                </a:solidFill>
              </a:rPr>
              <a:t>- </a:t>
            </a:r>
            <a:r>
              <a:rPr lang="en-CA" sz="3600" b="1" dirty="0">
                <a:solidFill>
                  <a:srgbClr val="FF0000"/>
                </a:solidFill>
              </a:rPr>
              <a:t>Cleaning the no-numerical data :</a:t>
            </a:r>
            <a:endParaRPr lang="en-CA" b="1" dirty="0">
              <a:solidFill>
                <a:srgbClr val="FF0000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D1065B1-257E-B5E4-7130-CC8FF89ED6E0}"/>
              </a:ext>
            </a:extLst>
          </p:cNvPr>
          <p:cNvSpPr txBox="1"/>
          <p:nvPr/>
        </p:nvSpPr>
        <p:spPr>
          <a:xfrm>
            <a:off x="1339063" y="1198453"/>
            <a:ext cx="788027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400" dirty="0"/>
              <a:t> In the case of digital data, we fill in the missing data Using two methods </a:t>
            </a:r>
            <a:r>
              <a:rPr lang="ar-DZ" sz="2400" dirty="0"/>
              <a:t>:</a:t>
            </a:r>
            <a:endParaRPr lang="en-CA" sz="24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E7FDBFEE-1597-C6E0-CA43-0965DFAE3B1B}"/>
              </a:ext>
            </a:extLst>
          </p:cNvPr>
          <p:cNvCxnSpPr>
            <a:cxnSpLocks/>
          </p:cNvCxnSpPr>
          <p:nvPr/>
        </p:nvCxnSpPr>
        <p:spPr>
          <a:xfrm>
            <a:off x="821933" y="195209"/>
            <a:ext cx="0" cy="6565187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2599470D-BEEA-9BA8-CA9F-B8E665DD0502}"/>
              </a:ext>
            </a:extLst>
          </p:cNvPr>
          <p:cNvSpPr txBox="1"/>
          <p:nvPr/>
        </p:nvSpPr>
        <p:spPr>
          <a:xfrm>
            <a:off x="1339062" y="2382246"/>
            <a:ext cx="797274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3200" b="1" dirty="0">
                <a:solidFill>
                  <a:srgbClr val="00B050"/>
                </a:solidFill>
              </a:rPr>
              <a:t>1 - manual filling : </a:t>
            </a:r>
            <a:endParaRPr lang="en-CA" sz="3200" dirty="0">
              <a:solidFill>
                <a:srgbClr val="00B050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64D0DEC-F520-9509-5546-AA4A196D856A}"/>
              </a:ext>
            </a:extLst>
          </p:cNvPr>
          <p:cNvSpPr txBox="1"/>
          <p:nvPr/>
        </p:nvSpPr>
        <p:spPr>
          <a:xfrm>
            <a:off x="1339062" y="3381931"/>
            <a:ext cx="745561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3200" b="1" dirty="0">
                <a:solidFill>
                  <a:srgbClr val="00B050"/>
                </a:solidFill>
              </a:rPr>
              <a:t>2 - Remove the less important columns (or those with no effect) : 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CA51404-516A-0C37-78DB-1A81C41518E3}"/>
              </a:ext>
            </a:extLst>
          </p:cNvPr>
          <p:cNvSpPr txBox="1"/>
          <p:nvPr/>
        </p:nvSpPr>
        <p:spPr>
          <a:xfrm>
            <a:off x="1339062" y="4678647"/>
            <a:ext cx="745561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3200" b="1" dirty="0">
                <a:solidFill>
                  <a:srgbClr val="00B050"/>
                </a:solidFill>
              </a:rPr>
              <a:t>3 – Filling with the most frequent values to preserve the data distribution  :</a:t>
            </a:r>
            <a:r>
              <a:rPr lang="ar-DZ" sz="3200" b="1" dirty="0">
                <a:solidFill>
                  <a:srgbClr val="00B050"/>
                </a:solidFill>
              </a:rPr>
              <a:t> </a:t>
            </a:r>
            <a:endParaRPr lang="en-CA" sz="3200" b="1" dirty="0">
              <a:solidFill>
                <a:srgbClr val="00B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1051301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07CA786-DBB6-A94C-7B02-EC4F4C44B49C}"/>
              </a:ext>
            </a:extLst>
          </p:cNvPr>
          <p:cNvSpPr txBox="1"/>
          <p:nvPr/>
        </p:nvSpPr>
        <p:spPr>
          <a:xfrm>
            <a:off x="1020563" y="687010"/>
            <a:ext cx="797274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3200" b="1" dirty="0">
                <a:solidFill>
                  <a:srgbClr val="00B050"/>
                </a:solidFill>
              </a:rPr>
              <a:t>1 – manual filling :</a:t>
            </a:r>
            <a:endParaRPr lang="en-CA" sz="3200" dirty="0">
              <a:solidFill>
                <a:srgbClr val="00B050"/>
              </a:solidFill>
            </a:endParaRP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C580E1E4-9DFC-7169-6DA4-DA2AE7D1FE7E}"/>
              </a:ext>
            </a:extLst>
          </p:cNvPr>
          <p:cNvCxnSpPr>
            <a:cxnSpLocks/>
          </p:cNvCxnSpPr>
          <p:nvPr/>
        </p:nvCxnSpPr>
        <p:spPr>
          <a:xfrm>
            <a:off x="821933" y="195209"/>
            <a:ext cx="0" cy="6565187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3CC274A8-078A-CA48-C5D9-2E6B5040BB64}"/>
              </a:ext>
            </a:extLst>
          </p:cNvPr>
          <p:cNvSpPr txBox="1"/>
          <p:nvPr/>
        </p:nvSpPr>
        <p:spPr>
          <a:xfrm>
            <a:off x="1520575" y="1623317"/>
            <a:ext cx="857892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400" b="1" dirty="0"/>
              <a:t>In our dataset, we have the column 'Gender'; we can infer this column from the 'Name' column , Exam :</a:t>
            </a:r>
            <a:endParaRPr lang="en-CA" sz="3200" dirty="0"/>
          </a:p>
        </p:txBody>
      </p:sp>
      <p:sp>
        <p:nvSpPr>
          <p:cNvPr id="11" name="Rectangle 2">
            <a:extLst>
              <a:ext uri="{FF2B5EF4-FFF2-40B4-BE49-F238E27FC236}">
                <a16:creationId xmlns:a16="http://schemas.microsoft.com/office/drawing/2014/main" id="{5C0C16F9-2EE6-A261-B844-487EC180BEE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76400" y="4759186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4C2E89A-C243-B837-9C90-BAFC349BC0A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78240" y="2576836"/>
            <a:ext cx="3745848" cy="3382173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0FE0CE61-127F-4594-D8F7-BCBAFC5CAAF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47414" y="2575009"/>
            <a:ext cx="3779212" cy="338400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E8C0A9CA-A7E1-6FF0-1B13-C376321806D8}"/>
              </a:ext>
            </a:extLst>
          </p:cNvPr>
          <p:cNvSpPr txBox="1"/>
          <p:nvPr/>
        </p:nvSpPr>
        <p:spPr>
          <a:xfrm>
            <a:off x="3070674" y="6129894"/>
            <a:ext cx="116098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dirty="0"/>
              <a:t>Before</a:t>
            </a:r>
            <a:r>
              <a:rPr lang="en-CA" sz="2400" dirty="0"/>
              <a:t> </a:t>
            </a:r>
            <a:endParaRPr lang="en-GB" sz="24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4E762CD-3E66-FC0B-92D6-DAF1B516F29E}"/>
              </a:ext>
            </a:extLst>
          </p:cNvPr>
          <p:cNvSpPr txBox="1"/>
          <p:nvPr/>
        </p:nvSpPr>
        <p:spPr>
          <a:xfrm>
            <a:off x="8156530" y="6129892"/>
            <a:ext cx="116098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dirty="0"/>
              <a:t>After </a:t>
            </a:r>
          </a:p>
        </p:txBody>
      </p:sp>
    </p:spTree>
    <p:extLst>
      <p:ext uri="{BB962C8B-B14F-4D97-AF65-F5344CB8AC3E}">
        <p14:creationId xmlns:p14="http://schemas.microsoft.com/office/powerpoint/2010/main" val="9351158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60F6C329-6E8A-C7B3-D94F-30E54237FC41}"/>
              </a:ext>
            </a:extLst>
          </p:cNvPr>
          <p:cNvSpPr txBox="1"/>
          <p:nvPr/>
        </p:nvSpPr>
        <p:spPr>
          <a:xfrm>
            <a:off x="1020563" y="687010"/>
            <a:ext cx="7972741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3200" b="1" dirty="0">
                <a:solidFill>
                  <a:srgbClr val="00B050"/>
                </a:solidFill>
              </a:rPr>
              <a:t>2 - Remove the less important columns (or those with no effect) : </a:t>
            </a:r>
            <a:endParaRPr lang="en-CA" sz="3200" dirty="0">
              <a:solidFill>
                <a:srgbClr val="00B050"/>
              </a:solidFill>
            </a:endParaRP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C3C800BB-7444-48A4-E6F9-4E6026D0D671}"/>
              </a:ext>
            </a:extLst>
          </p:cNvPr>
          <p:cNvCxnSpPr>
            <a:cxnSpLocks/>
          </p:cNvCxnSpPr>
          <p:nvPr/>
        </p:nvCxnSpPr>
        <p:spPr>
          <a:xfrm>
            <a:off x="0" y="195208"/>
            <a:ext cx="0" cy="6565187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3" name="Picture 2">
            <a:extLst>
              <a:ext uri="{FF2B5EF4-FFF2-40B4-BE49-F238E27FC236}">
                <a16:creationId xmlns:a16="http://schemas.microsoft.com/office/drawing/2014/main" id="{FEFF0877-197D-4C93-E6DB-8277AFE94F5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2749442"/>
            <a:ext cx="12192000" cy="164600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2F8A1F6-1FEC-2AB0-E6A9-B0F56BD40CF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808126"/>
            <a:ext cx="12192000" cy="146787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EEE25E9-E485-758B-C670-A30EACF151BC}"/>
              </a:ext>
            </a:extLst>
          </p:cNvPr>
          <p:cNvSpPr txBox="1"/>
          <p:nvPr/>
        </p:nvSpPr>
        <p:spPr>
          <a:xfrm>
            <a:off x="897272" y="1875096"/>
            <a:ext cx="1117143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400" b="1" dirty="0"/>
              <a:t>In our study, we notice that there are characteristics that are not useful to us, such as:</a:t>
            </a:r>
            <a:endParaRPr lang="en-CA" sz="2400" dirty="0"/>
          </a:p>
        </p:txBody>
      </p:sp>
    </p:spTree>
    <p:extLst>
      <p:ext uri="{BB962C8B-B14F-4D97-AF65-F5344CB8AC3E}">
        <p14:creationId xmlns:p14="http://schemas.microsoft.com/office/powerpoint/2010/main" val="270363141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89ED2F-B0A3-8BF9-DF16-34FDB9E4AF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8B7A9F28-12B7-3B6F-2836-1C435EE32EC4}"/>
              </a:ext>
            </a:extLst>
          </p:cNvPr>
          <p:cNvSpPr txBox="1"/>
          <p:nvPr/>
        </p:nvSpPr>
        <p:spPr>
          <a:xfrm>
            <a:off x="1020563" y="687010"/>
            <a:ext cx="7972741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3200" b="1" dirty="0">
                <a:solidFill>
                  <a:srgbClr val="00B050"/>
                </a:solidFill>
              </a:rPr>
              <a:t>3 - Filling with the most frequent values to preserve the data distribution  :</a:t>
            </a:r>
            <a:r>
              <a:rPr lang="ar-DZ" sz="3200" b="1" dirty="0">
                <a:solidFill>
                  <a:srgbClr val="00B050"/>
                </a:solidFill>
              </a:rPr>
              <a:t> </a:t>
            </a:r>
            <a:endParaRPr lang="en-CA" sz="3200" dirty="0">
              <a:solidFill>
                <a:srgbClr val="00B050"/>
              </a:solidFill>
            </a:endParaRP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7933A36E-A10F-580A-8730-BAB6E3DDA35E}"/>
              </a:ext>
            </a:extLst>
          </p:cNvPr>
          <p:cNvCxnSpPr>
            <a:cxnSpLocks/>
          </p:cNvCxnSpPr>
          <p:nvPr/>
        </p:nvCxnSpPr>
        <p:spPr>
          <a:xfrm>
            <a:off x="821933" y="195209"/>
            <a:ext cx="0" cy="6565187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3" name="Picture 2">
            <a:extLst>
              <a:ext uri="{FF2B5EF4-FFF2-40B4-BE49-F238E27FC236}">
                <a16:creationId xmlns:a16="http://schemas.microsoft.com/office/drawing/2014/main" id="{4CB9BDB9-1532-C64B-B43F-F490E657605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58854" y="2034495"/>
            <a:ext cx="4680000" cy="330331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16F17FC-023E-9518-AA2B-F6F75E34208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45642" y="2034495"/>
            <a:ext cx="5137932" cy="33048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65D6B65-D9AD-D3CC-1FE2-A3D3F6CC5599}"/>
              </a:ext>
            </a:extLst>
          </p:cNvPr>
          <p:cNvSpPr txBox="1"/>
          <p:nvPr/>
        </p:nvSpPr>
        <p:spPr>
          <a:xfrm>
            <a:off x="3070674" y="6129894"/>
            <a:ext cx="116098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dirty="0"/>
              <a:t>Before</a:t>
            </a:r>
            <a:r>
              <a:rPr lang="en-CA" sz="2400" dirty="0"/>
              <a:t> </a:t>
            </a:r>
            <a:endParaRPr lang="en-GB" sz="24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9E0017A-1378-F59D-52EA-8AE8977C3675}"/>
              </a:ext>
            </a:extLst>
          </p:cNvPr>
          <p:cNvSpPr txBox="1"/>
          <p:nvPr/>
        </p:nvSpPr>
        <p:spPr>
          <a:xfrm>
            <a:off x="8156530" y="6129892"/>
            <a:ext cx="116098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dirty="0"/>
              <a:t>After </a:t>
            </a:r>
          </a:p>
        </p:txBody>
      </p:sp>
    </p:spTree>
    <p:extLst>
      <p:ext uri="{BB962C8B-B14F-4D97-AF65-F5344CB8AC3E}">
        <p14:creationId xmlns:p14="http://schemas.microsoft.com/office/powerpoint/2010/main" val="171306288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4FF4B9-5D76-3757-E681-AB5E55FA74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F9FEDEF1-17E0-8254-1433-6A9E7A6B73F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544638" y="0"/>
            <a:ext cx="5647362" cy="685799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089D605-D8D5-B78E-3244-9F2ECF68327D}"/>
              </a:ext>
            </a:extLst>
          </p:cNvPr>
          <p:cNvSpPr txBox="1"/>
          <p:nvPr/>
        </p:nvSpPr>
        <p:spPr>
          <a:xfrm>
            <a:off x="729465" y="2075379"/>
            <a:ext cx="6096000" cy="20374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</a:pPr>
            <a:r>
              <a:rPr lang="en-CA" sz="9600" spc="-50" dirty="0">
                <a:latin typeface="+mj-lt"/>
                <a:ea typeface="+mj-ea"/>
                <a:cs typeface="+mj-cs"/>
              </a:rPr>
              <a:t>Plots</a:t>
            </a:r>
          </a:p>
          <a:p>
            <a:endParaRPr lang="en-CA" sz="4000" dirty="0"/>
          </a:p>
        </p:txBody>
      </p:sp>
    </p:spTree>
    <p:extLst>
      <p:ext uri="{BB962C8B-B14F-4D97-AF65-F5344CB8AC3E}">
        <p14:creationId xmlns:p14="http://schemas.microsoft.com/office/powerpoint/2010/main" val="144811220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B744E23-1859-6EF0-EC29-76990F71DC8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67484" y="136128"/>
            <a:ext cx="7707338" cy="550524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3927277-A512-CEB4-875F-C50A5902F5A0}"/>
              </a:ext>
            </a:extLst>
          </p:cNvPr>
          <p:cNvSpPr txBox="1"/>
          <p:nvPr/>
        </p:nvSpPr>
        <p:spPr>
          <a:xfrm>
            <a:off x="1839074" y="6082301"/>
            <a:ext cx="736657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000" dirty="0"/>
              <a:t>we use it to see distribution of final grade of students and to see if its balanced or not in our case we have good </a:t>
            </a:r>
            <a:r>
              <a:rPr lang="en-CA" sz="2000" dirty="0" err="1"/>
              <a:t>distrubtion</a:t>
            </a:r>
            <a:r>
              <a:rPr lang="en-CA" sz="2000" dirty="0"/>
              <a:t> and no outliers</a:t>
            </a:r>
          </a:p>
        </p:txBody>
      </p:sp>
    </p:spTree>
    <p:extLst>
      <p:ext uri="{BB962C8B-B14F-4D97-AF65-F5344CB8AC3E}">
        <p14:creationId xmlns:p14="http://schemas.microsoft.com/office/powerpoint/2010/main" val="110833362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EEBAEC2-DBF8-60E6-5939-5EC72B1463D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39404" y="71919"/>
            <a:ext cx="7953918" cy="568136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4C68856-B68E-129D-49F3-1214F374B239}"/>
              </a:ext>
            </a:extLst>
          </p:cNvPr>
          <p:cNvSpPr txBox="1"/>
          <p:nvPr/>
        </p:nvSpPr>
        <p:spPr>
          <a:xfrm>
            <a:off x="1962364" y="6102849"/>
            <a:ext cx="718163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000" dirty="0"/>
              <a:t>to detect outliers and median and to see how is the </a:t>
            </a:r>
            <a:r>
              <a:rPr lang="en-CA" sz="2000" dirty="0" err="1"/>
              <a:t>destrubtion</a:t>
            </a:r>
            <a:r>
              <a:rPr lang="en-CA" sz="2000" dirty="0"/>
              <a:t> we can see that </a:t>
            </a:r>
            <a:r>
              <a:rPr lang="en-CA" sz="2000" dirty="0" err="1"/>
              <a:t>previious</a:t>
            </a:r>
            <a:r>
              <a:rPr lang="en-CA" sz="2000" dirty="0"/>
              <a:t> and final grade are close overall</a:t>
            </a:r>
          </a:p>
        </p:txBody>
      </p:sp>
    </p:spTree>
    <p:extLst>
      <p:ext uri="{BB962C8B-B14F-4D97-AF65-F5344CB8AC3E}">
        <p14:creationId xmlns:p14="http://schemas.microsoft.com/office/powerpoint/2010/main" val="339674601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A2EE46-C7F5-0D20-6504-6BCD13D097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C8351C1C-C5EB-3368-DEDA-7BDA1BEB2B46}"/>
              </a:ext>
            </a:extLst>
          </p:cNvPr>
          <p:cNvSpPr txBox="1"/>
          <p:nvPr/>
        </p:nvSpPr>
        <p:spPr>
          <a:xfrm>
            <a:off x="2365621" y="5911246"/>
            <a:ext cx="718163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000" dirty="0"/>
              <a:t> to check relation between study hours / week and the final grades Study hours do not strongly predict final grade</a:t>
            </a:r>
            <a:endParaRPr lang="en-CA" sz="24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06FCDAD-4D12-C235-3836-E410AE1BDE4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65621" y="238868"/>
            <a:ext cx="7460758" cy="53291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400205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5F8874-4E5B-B416-17B3-510D068681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5A968F01-8ED1-9E56-C959-DE9CD0E0D593}"/>
              </a:ext>
            </a:extLst>
          </p:cNvPr>
          <p:cNvSpPr txBox="1"/>
          <p:nvPr/>
        </p:nvSpPr>
        <p:spPr>
          <a:xfrm>
            <a:off x="2365621" y="5911246"/>
            <a:ext cx="718163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000" dirty="0"/>
              <a:t>forth Heatmap to see which factors change together and have correlation</a:t>
            </a:r>
            <a:endParaRPr lang="en-CA" sz="28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837E68B-97D3-97B6-455E-96B52A6338F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98831" y="238868"/>
            <a:ext cx="7315215" cy="54864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832762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77C4E3-5CD0-6A6B-3CB1-E9FA0AC8D6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5E0B910F-BE41-9432-ACB5-1932B173E2CF}"/>
              </a:ext>
            </a:extLst>
          </p:cNvPr>
          <p:cNvSpPr txBox="1"/>
          <p:nvPr/>
        </p:nvSpPr>
        <p:spPr>
          <a:xfrm>
            <a:off x="2365621" y="5911246"/>
            <a:ext cx="718163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000" dirty="0"/>
              <a:t>last plot is the bar plot to compare grades of </a:t>
            </a:r>
            <a:r>
              <a:rPr lang="en-CA" sz="2000" dirty="0" err="1"/>
              <a:t>paretnail</a:t>
            </a:r>
            <a:r>
              <a:rPr lang="en-CA" sz="2000" dirty="0"/>
              <a:t> support to see if it helps with </a:t>
            </a:r>
            <a:r>
              <a:rPr lang="en-CA" sz="2000" dirty="0" err="1"/>
              <a:t>fianl</a:t>
            </a:r>
            <a:r>
              <a:rPr lang="en-CA" sz="2000" dirty="0"/>
              <a:t> grade</a:t>
            </a:r>
            <a:endParaRPr lang="en-CA" sz="32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C8F813F-E976-66CF-054A-3E23ADDC664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24854" y="238868"/>
            <a:ext cx="7522403" cy="53731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113230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AF763C12-4DA8-D8BB-9F79-96D0178F6351}"/>
              </a:ext>
            </a:extLst>
          </p:cNvPr>
          <p:cNvSpPr txBox="1"/>
          <p:nvPr/>
        </p:nvSpPr>
        <p:spPr>
          <a:xfrm>
            <a:off x="3256908" y="2117525"/>
            <a:ext cx="5527497" cy="2123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6600" dirty="0"/>
              <a:t>Thank you for your time </a:t>
            </a:r>
            <a:endParaRPr lang="en-CA" sz="6600" dirty="0"/>
          </a:p>
        </p:txBody>
      </p:sp>
    </p:spTree>
    <p:extLst>
      <p:ext uri="{BB962C8B-B14F-4D97-AF65-F5344CB8AC3E}">
        <p14:creationId xmlns:p14="http://schemas.microsoft.com/office/powerpoint/2010/main" val="428770252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607</TotalTime>
  <Words>705</Words>
  <Application>Microsoft Office PowerPoint</Application>
  <PresentationFormat>Widescreen</PresentationFormat>
  <Paragraphs>105</Paragraphs>
  <Slides>18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2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taher smida</dc:creator>
  <cp:lastModifiedBy>taher smida</cp:lastModifiedBy>
  <cp:revision>24</cp:revision>
  <dcterms:created xsi:type="dcterms:W3CDTF">2025-11-22T17:30:49Z</dcterms:created>
  <dcterms:modified xsi:type="dcterms:W3CDTF">2025-11-28T18:12:53Z</dcterms:modified>
</cp:coreProperties>
</file>