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58" r:id="rId6"/>
    <p:sldId id="259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FFF36-28FC-E2D2-6F84-DA4028B8FD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AF7488-36A8-D8B4-BC2A-FEA12FA1B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D5891A-9E01-39D5-9258-6BE6A0E34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1F380-12DA-8336-86BF-F0C651FA1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F2F7CB-C4A4-CF9C-478A-DD01AB5B7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35414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96439-E798-07F3-2FA6-2530AC68A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FD5EB-7069-1458-D0B3-B5CE1F769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5BF90-447D-3838-1681-90F1734AA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3D7900-17AF-3137-B870-E0A7AAC94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6F5D-087F-5F8A-DB7B-1D40F141F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1425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5061D-4F4D-0EBA-29D7-7D7D25131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5A6B99-A6D2-7C7A-4244-699B0738B0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4C38C-0AA8-C322-530F-52A74C15C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4B8916-405E-AC9A-661E-6F45DBDC9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BF856-9500-5B58-BFE2-AFB5596B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266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794AF-6858-D1F3-219D-61BF2C645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18286-BE30-96CE-D50F-FD82D26BEA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FE831A-0466-6436-52F1-4E78A97FE0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2D5AEE-3210-C21F-3F3D-7649A688C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24AF04-88EC-1C3C-61C6-4A4F5B9C9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C98587-D5DA-538D-DE85-28C470FA7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538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5C34E-2697-480E-B25A-72778F182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AC2A8F-65C7-6EBB-D9A9-A71BD7A58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697262-A83C-EA62-B9E7-5FF287BD8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40A60-D8B1-0595-7C6A-92689BF22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934D99-9CB6-8361-C163-32EEEC7749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6342D7-D758-430F-9C97-94A17E980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E5A335-1C3F-78A1-1ED7-6B3E36829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C28B48-290B-FDF3-F2DB-98DD9EAA0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743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781FC-8BE7-3E49-E462-C3BF674B8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A42193-B975-E585-DD0C-12646B494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EE095A-FE0C-FD78-A10A-79D4BE7A0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0E98C8-35EA-F8FF-935A-F7AB5C55C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74895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C45281-CAA8-2D57-28B3-6BCF068A3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B0EDDE-DC5E-130F-B8E2-31F1680A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08D49-7B88-619B-46AB-7983CD680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26432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A5FFE-86D6-AFD2-404E-A84D319CC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FE327D-7158-55B4-58BB-B62041927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27BB3F-3B59-62D8-3BA0-6E3451B379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16BB27-6AC9-17C6-F560-DE015945C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2A12BA-C9AE-D928-9AA4-A7C8CB771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B815D5-9A7C-9949-E768-38235351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0004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DAEC5-00B9-1BFD-117B-9033E4D1D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DAD89D-F970-7DE9-82B4-517F8D6C51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2F8A05-4D70-A85D-FB5E-24E3804A0C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DC51C6-F78E-BED5-4596-1180E5ABD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3792E5-59DE-5704-A47F-FFBE1696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28A7A0-0984-30D8-BBC4-7AFA24C30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312012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C9734-B699-526D-013C-462950AB7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BD9901-BA13-C25D-B906-761AA1F0CB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755B6-5850-FD11-6C16-B021D0C2A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7EF54-34A8-A0C6-1F2D-E564344A6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2142E4-D9AE-E949-9471-608223F6E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67314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3FFEDE-2E35-BDED-219D-15C47C86F4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828592-A8AB-E646-D870-48B570AE82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F6B80C-B9BB-63F1-D357-4DAFB998B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E3A33-ECA2-A510-B9DC-343258CC8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4769C1-C241-8B35-DC54-122A0AC9A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8453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7338DD-40FD-B82A-29F5-3130D0426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E3E92-D8EB-0D92-0517-4D5801503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FDB991-84C5-548A-4120-DD87728201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8D400-B5B9-8B1A-9D7F-9E00B2647B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F877F-1BC7-AF53-7F9C-4D9FBEC02B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86974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C9BD02A-456F-1C70-7BF5-0354E75BAC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599416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6679902-1B7B-B02E-3804-484BE8B79C1A}"/>
              </a:ext>
            </a:extLst>
          </p:cNvPr>
          <p:cNvSpPr txBox="1"/>
          <p:nvPr/>
        </p:nvSpPr>
        <p:spPr>
          <a:xfrm>
            <a:off x="6096000" y="667820"/>
            <a:ext cx="559941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80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Student Performance Dataset</a:t>
            </a:r>
          </a:p>
          <a:p>
            <a:endParaRPr lang="en-CA" sz="40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BD6C8E-87CF-8DE7-079F-4B589D924BFE}"/>
              </a:ext>
            </a:extLst>
          </p:cNvPr>
          <p:cNvCxnSpPr/>
          <p:nvPr/>
        </p:nvCxnSpPr>
        <p:spPr>
          <a:xfrm>
            <a:off x="6096000" y="4787757"/>
            <a:ext cx="5822022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7C6EF06-7B56-8325-F1C8-3CF1DC106E3B}"/>
              </a:ext>
            </a:extLst>
          </p:cNvPr>
          <p:cNvSpPr txBox="1"/>
          <p:nvPr/>
        </p:nvSpPr>
        <p:spPr>
          <a:xfrm>
            <a:off x="6256962" y="5291191"/>
            <a:ext cx="27945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By :</a:t>
            </a:r>
            <a:endParaRPr lang="en-CA" b="1" u="sng" dirty="0"/>
          </a:p>
          <a:p>
            <a:pPr marL="285750" indent="-285750">
              <a:buFontTx/>
              <a:buChar char="-"/>
            </a:pPr>
            <a:r>
              <a:rPr lang="en-CA" b="1" u="sng" dirty="0"/>
              <a:t>Sami Youcef </a:t>
            </a:r>
          </a:p>
          <a:p>
            <a:pPr marL="285750" indent="-285750">
              <a:buFontTx/>
              <a:buChar char="-"/>
            </a:pPr>
            <a:r>
              <a:rPr lang="en-CA" b="1" u="sng" dirty="0"/>
              <a:t>Smida Mohamed taher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5783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4421F80-E30D-AE82-EDF5-DD0506795BEE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7DCB988-9FEE-B7DA-CAC5-E20F0DA46022}"/>
              </a:ext>
            </a:extLst>
          </p:cNvPr>
          <p:cNvSpPr txBox="1"/>
          <p:nvPr/>
        </p:nvSpPr>
        <p:spPr>
          <a:xfrm>
            <a:off x="1387011" y="534256"/>
            <a:ext cx="3020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Overview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67DCB988-9FEE-B7DA-CAC5-E20F0DA46022}"/>
              </a:ext>
            </a:extLst>
          </p:cNvPr>
          <p:cNvSpPr txBox="1"/>
          <p:nvPr/>
        </p:nvSpPr>
        <p:spPr>
          <a:xfrm>
            <a:off x="1236323" y="3429000"/>
            <a:ext cx="3020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target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C50265-A95F-A357-8F10-01B15524B5FC}"/>
              </a:ext>
            </a:extLst>
          </p:cNvPr>
          <p:cNvSpPr txBox="1"/>
          <p:nvPr/>
        </p:nvSpPr>
        <p:spPr>
          <a:xfrm>
            <a:off x="1387012" y="4075331"/>
            <a:ext cx="788027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we can say that this database seeks to see if </a:t>
            </a:r>
            <a:r>
              <a:rPr lang="en-CA" sz="2400" dirty="0" err="1"/>
              <a:t>specefic</a:t>
            </a:r>
            <a:r>
              <a:rPr lang="en-CA" sz="2400" dirty="0"/>
              <a:t> manners affect student performance such as getting helped by parent or go to school or </a:t>
            </a:r>
            <a:r>
              <a:rPr lang="en-CA" sz="2400" dirty="0" err="1"/>
              <a:t>studing</a:t>
            </a:r>
            <a:r>
              <a:rPr lang="en-CA" sz="2400" dirty="0"/>
              <a:t> more the main thing the data base wants is to check performance (Final grade) to see how we can help students to get better grades . </a:t>
            </a:r>
          </a:p>
          <a:p>
            <a:endParaRPr lang="en-CA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CBB0B11-C2F0-E01D-DD43-824A27A91F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100" y="-97604"/>
            <a:ext cx="30099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55316A-1B44-79CF-C100-E4F1C1081AE4}"/>
              </a:ext>
            </a:extLst>
          </p:cNvPr>
          <p:cNvSpPr txBox="1"/>
          <p:nvPr/>
        </p:nvSpPr>
        <p:spPr>
          <a:xfrm>
            <a:off x="1236323" y="1261811"/>
            <a:ext cx="78802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this database seeks to see if </a:t>
            </a:r>
            <a:r>
              <a:rPr lang="en-CA" sz="2400" dirty="0" err="1"/>
              <a:t>specefic</a:t>
            </a:r>
            <a:r>
              <a:rPr lang="en-CA" sz="2400" dirty="0"/>
              <a:t> manners affect student performance such as getting helped by parent or go to school or </a:t>
            </a:r>
            <a:r>
              <a:rPr lang="en-CA" sz="2400" dirty="0" err="1"/>
              <a:t>studing</a:t>
            </a:r>
            <a:r>
              <a:rPr lang="en-CA" sz="2400" dirty="0"/>
              <a:t> more the main thing the data base wants is to check performance (Final grade) to see how we can help students to get better grades</a:t>
            </a:r>
          </a:p>
        </p:txBody>
      </p:sp>
    </p:spTree>
    <p:extLst>
      <p:ext uri="{BB962C8B-B14F-4D97-AF65-F5344CB8AC3E}">
        <p14:creationId xmlns:p14="http://schemas.microsoft.com/office/powerpoint/2010/main" val="1310758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C0CCE-564F-9123-81E1-AE89A8C8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4E1DB4-52ED-7A11-C6F5-8C5284D5B626}"/>
              </a:ext>
            </a:extLst>
          </p:cNvPr>
          <p:cNvSpPr txBox="1"/>
          <p:nvPr/>
        </p:nvSpPr>
        <p:spPr>
          <a:xfrm>
            <a:off x="3589105" y="226032"/>
            <a:ext cx="50137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The features :</a:t>
            </a:r>
            <a:endParaRPr lang="en-CA" sz="3600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76ADF7B-BBD2-2A8E-0EC4-FAED49E61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1049027"/>
              </p:ext>
            </p:extLst>
          </p:nvPr>
        </p:nvGraphicFramePr>
        <p:xfrm>
          <a:off x="688369" y="861148"/>
          <a:ext cx="10828961" cy="576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8804">
                  <a:extLst>
                    <a:ext uri="{9D8B030D-6E8A-4147-A177-3AD203B41FA5}">
                      <a16:colId xmlns:a16="http://schemas.microsoft.com/office/drawing/2014/main" val="900049784"/>
                    </a:ext>
                  </a:extLst>
                </a:gridCol>
                <a:gridCol w="7390157">
                  <a:extLst>
                    <a:ext uri="{9D8B030D-6E8A-4147-A177-3AD203B41FA5}">
                      <a16:colId xmlns:a16="http://schemas.microsoft.com/office/drawing/2014/main" val="928557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dirty="0"/>
                        <a:t>The feature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The meaning 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3306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studentID</a:t>
                      </a:r>
                      <a:endParaRPr lang="en-CA" sz="24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numiercal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number (float) to tell the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specefic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student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wer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working on . and it is not important for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1868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</a:t>
                      </a:r>
                      <a:endParaRPr lang="en-CA" sz="24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real name (string) for more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spefic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 also not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importnet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for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337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Gender</a:t>
                      </a:r>
                      <a:endParaRPr lang="en-CA" sz="24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sex : male or female to see the better one at studying , we can see also that males are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slighty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more by 5%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584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AttendanceRate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float percentage from 0 to 100 to see how often the student go to school to know if going to school helps or no its important for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09430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StudyHoursPerWeek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number of the hours (float) the student studies each week to see if going more is helpful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8918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PreviousGrade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student old exam points (float) to see if he changed or still the same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44422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1543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08960-1C5F-C4AA-42EF-2A1F1C17E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86AD49-C3B7-9610-894C-F6BA0E7E2FB6}"/>
              </a:ext>
            </a:extLst>
          </p:cNvPr>
          <p:cNvSpPr txBox="1"/>
          <p:nvPr/>
        </p:nvSpPr>
        <p:spPr>
          <a:xfrm>
            <a:off x="3589105" y="226032"/>
            <a:ext cx="50137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The features :</a:t>
            </a:r>
            <a:endParaRPr lang="en-CA" sz="3600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C9BB9D6-21D2-A41C-F37E-080EDCC9F6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9256252"/>
              </p:ext>
            </p:extLst>
          </p:nvPr>
        </p:nvGraphicFramePr>
        <p:xfrm>
          <a:off x="928098" y="914400"/>
          <a:ext cx="10335802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2198">
                  <a:extLst>
                    <a:ext uri="{9D8B030D-6E8A-4147-A177-3AD203B41FA5}">
                      <a16:colId xmlns:a16="http://schemas.microsoft.com/office/drawing/2014/main" val="900049784"/>
                    </a:ext>
                  </a:extLst>
                </a:gridCol>
                <a:gridCol w="7053604">
                  <a:extLst>
                    <a:ext uri="{9D8B030D-6E8A-4147-A177-3AD203B41FA5}">
                      <a16:colId xmlns:a16="http://schemas.microsoft.com/office/drawing/2014/main" val="928557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dirty="0"/>
                        <a:t>The feature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The meaning 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3306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ExtracurricularActivities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number of activities the student participates in sport.. to see if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activies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help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320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ParentalSupport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Level of support at home (Low / Medium / High) to see if getting supported helps we use it in predictions</a:t>
                      </a:r>
                      <a:endParaRPr lang="en-CA" sz="2400" dirty="0"/>
                    </a:p>
                    <a:p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190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FinalGrade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CA" sz="2400" dirty="0">
                          <a:effectLst/>
                        </a:rPr>
                        <a:t>the student final score in the class which is the most important thing we are looking for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25595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 Hours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study-hours per day this time to see daily vs weekly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8045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 (%)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 percentage for online classes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078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Online Classes Taken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boolean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true or false to see if taking online exams helps the student in points and we use it in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5377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7287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0D1E6D-5D0D-0860-BFEF-F939C948B7C3}"/>
              </a:ext>
            </a:extLst>
          </p:cNvPr>
          <p:cNvSpPr txBox="1"/>
          <p:nvPr/>
        </p:nvSpPr>
        <p:spPr>
          <a:xfrm>
            <a:off x="0" y="678094"/>
            <a:ext cx="6096000" cy="46966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9600" spc="-50" dirty="0">
                <a:latin typeface="+mj-lt"/>
                <a:ea typeface="+mj-ea"/>
                <a:cs typeface="+mj-cs"/>
              </a:rPr>
              <a:t>Plots Before 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9600" spc="-50" dirty="0">
                <a:latin typeface="+mj-lt"/>
                <a:ea typeface="+mj-ea"/>
                <a:cs typeface="+mj-cs"/>
              </a:rPr>
              <a:t>Clearing data</a:t>
            </a:r>
          </a:p>
          <a:p>
            <a:endParaRPr lang="en-CA" sz="4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1D338A-7736-4881-BC73-7EC49A774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429" y="0"/>
            <a:ext cx="58425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777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59DD9D-7461-25F2-1A07-315901E6C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916" y="363446"/>
            <a:ext cx="9852917" cy="51743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E0F2D6-F98E-21DB-3D43-9EFF60195E6A}"/>
              </a:ext>
            </a:extLst>
          </p:cNvPr>
          <p:cNvSpPr txBox="1"/>
          <p:nvPr/>
        </p:nvSpPr>
        <p:spPr>
          <a:xfrm>
            <a:off x="1705510" y="5784350"/>
            <a:ext cx="74179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we use it to see distribution of final grade of students and to see if its balanced or not</a:t>
            </a:r>
          </a:p>
        </p:txBody>
      </p:sp>
    </p:spTree>
    <p:extLst>
      <p:ext uri="{BB962C8B-B14F-4D97-AF65-F5344CB8AC3E}">
        <p14:creationId xmlns:p14="http://schemas.microsoft.com/office/powerpoint/2010/main" val="233740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A9031-94DF-185E-F33C-C51C14FCD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033333-234F-4033-23C9-4648387A7655}"/>
              </a:ext>
            </a:extLst>
          </p:cNvPr>
          <p:cNvSpPr txBox="1"/>
          <p:nvPr/>
        </p:nvSpPr>
        <p:spPr>
          <a:xfrm>
            <a:off x="1705509" y="5784350"/>
            <a:ext cx="82809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to detect outliers and median and to see how is the </a:t>
            </a:r>
            <a:r>
              <a:rPr lang="en-CA" sz="2400" dirty="0" err="1"/>
              <a:t>destrubtion</a:t>
            </a:r>
            <a:r>
              <a:rPr lang="en-CA" sz="2400" dirty="0"/>
              <a:t> for us we have normal </a:t>
            </a:r>
            <a:r>
              <a:rPr lang="en-CA" sz="2400" dirty="0" err="1"/>
              <a:t>distrubution</a:t>
            </a:r>
            <a:r>
              <a:rPr lang="en-CA" sz="2400" dirty="0"/>
              <a:t> fi </a:t>
            </a:r>
            <a:r>
              <a:rPr lang="en-CA" sz="2400" dirty="0" err="1"/>
              <a:t>nos</a:t>
            </a:r>
            <a:endParaRPr lang="en-CA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D9629D-4C31-A766-6F43-37F50BD5C0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565" y="398119"/>
            <a:ext cx="11003622" cy="5386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9714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4B04B-5E86-E9B7-F486-6775BA535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8AFDB5B-6A6B-6589-5F65-4F14B79C15CB}"/>
              </a:ext>
            </a:extLst>
          </p:cNvPr>
          <p:cNvSpPr txBox="1"/>
          <p:nvPr/>
        </p:nvSpPr>
        <p:spPr>
          <a:xfrm>
            <a:off x="1705509" y="5784350"/>
            <a:ext cx="82809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 err="1"/>
              <a:t>tio</a:t>
            </a:r>
            <a:r>
              <a:rPr lang="en-CA" sz="2400" dirty="0"/>
              <a:t> check relation between study hours / week and the final grades mtba3din weak relation</a:t>
            </a:r>
            <a:endParaRPr lang="en-CA" sz="4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8F7BAD-1352-4A62-2FE6-9DCD3F6315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256" y="311999"/>
            <a:ext cx="10448817" cy="5472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080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407C2-BBCA-4B13-CD3D-D107DA9B8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AEB2779-B4DF-13A7-6BF3-53F8AF108815}"/>
              </a:ext>
            </a:extLst>
          </p:cNvPr>
          <p:cNvSpPr txBox="1"/>
          <p:nvPr/>
        </p:nvSpPr>
        <p:spPr>
          <a:xfrm>
            <a:off x="1955514" y="5729064"/>
            <a:ext cx="82809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forth Heatmap to see which factors change together</a:t>
            </a:r>
            <a:endParaRPr lang="en-CA" sz="4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5077AB-7F9F-79E4-3063-CC497E8ECE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13" y="242653"/>
            <a:ext cx="11106364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775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EF24D-FCA7-C50D-DCED-544B7DB53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8A043D-675C-904F-AC13-D0C4DAFE5CD7}"/>
              </a:ext>
            </a:extLst>
          </p:cNvPr>
          <p:cNvSpPr txBox="1"/>
          <p:nvPr/>
        </p:nvSpPr>
        <p:spPr>
          <a:xfrm>
            <a:off x="1955514" y="5729064"/>
            <a:ext cx="82809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the bar plot to compare grades of </a:t>
            </a:r>
            <a:r>
              <a:rPr lang="en-CA" sz="2400" dirty="0" err="1"/>
              <a:t>paretnail</a:t>
            </a:r>
            <a:r>
              <a:rPr lang="en-CA" sz="2400" dirty="0"/>
              <a:t> support to see if it helps with average grade</a:t>
            </a:r>
            <a:endParaRPr lang="en-CA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7CC846-7E14-5DD3-58FA-B6AB1256B4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805" y="404478"/>
            <a:ext cx="10767317" cy="5324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160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41F050-D977-BE5E-B1E1-1933A291E7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4638" y="0"/>
            <a:ext cx="5647362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17C0E3-3C06-AAC3-999E-C627F6EC2B01}"/>
              </a:ext>
            </a:extLst>
          </p:cNvPr>
          <p:cNvSpPr txBox="1"/>
          <p:nvPr/>
        </p:nvSpPr>
        <p:spPr>
          <a:xfrm>
            <a:off x="0" y="678094"/>
            <a:ext cx="6096000" cy="3367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9600" spc="-50" dirty="0">
                <a:latin typeface="+mj-lt"/>
                <a:ea typeface="+mj-ea"/>
                <a:cs typeface="+mj-cs"/>
              </a:rPr>
              <a:t>Cleaning data step</a:t>
            </a:r>
          </a:p>
          <a:p>
            <a:endParaRPr lang="en-CA" sz="4000" dirty="0"/>
          </a:p>
        </p:txBody>
      </p:sp>
    </p:spTree>
    <p:extLst>
      <p:ext uri="{BB962C8B-B14F-4D97-AF65-F5344CB8AC3E}">
        <p14:creationId xmlns:p14="http://schemas.microsoft.com/office/powerpoint/2010/main" val="39438656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450AACB-90D0-8F13-AE22-C29C8C6B1F5E}"/>
              </a:ext>
            </a:extLst>
          </p:cNvPr>
          <p:cNvSpPr txBox="1"/>
          <p:nvPr/>
        </p:nvSpPr>
        <p:spPr>
          <a:xfrm>
            <a:off x="2989780" y="277403"/>
            <a:ext cx="468501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solidFill>
                  <a:srgbClr val="FF0000"/>
                </a:solidFill>
              </a:rPr>
              <a:t>Missing data</a:t>
            </a:r>
            <a:endParaRPr lang="en-CA" sz="4400" dirty="0">
              <a:solidFill>
                <a:srgbClr val="FF0000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7845DFC-73F3-00FB-B911-AFE7478D0D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394096"/>
              </p:ext>
            </p:extLst>
          </p:nvPr>
        </p:nvGraphicFramePr>
        <p:xfrm>
          <a:off x="1625314" y="1018540"/>
          <a:ext cx="7413948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16">
                  <a:extLst>
                    <a:ext uri="{9D8B030D-6E8A-4147-A177-3AD203B41FA5}">
                      <a16:colId xmlns:a16="http://schemas.microsoft.com/office/drawing/2014/main" val="2541501573"/>
                    </a:ext>
                  </a:extLst>
                </a:gridCol>
                <a:gridCol w="2471316">
                  <a:extLst>
                    <a:ext uri="{9D8B030D-6E8A-4147-A177-3AD203B41FA5}">
                      <a16:colId xmlns:a16="http://schemas.microsoft.com/office/drawing/2014/main" val="3919241593"/>
                    </a:ext>
                  </a:extLst>
                </a:gridCol>
                <a:gridCol w="2471316">
                  <a:extLst>
                    <a:ext uri="{9D8B030D-6E8A-4147-A177-3AD203B41FA5}">
                      <a16:colId xmlns:a16="http://schemas.microsoft.com/office/drawing/2014/main" val="33484771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The feature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Data types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Num missing data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2547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StudentID</a:t>
                      </a: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7075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34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2562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48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3127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AttendanceRate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40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6995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StudyHoursPerWeek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50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939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PreviousGrade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33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720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ExtracurricularActivities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43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1760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ParentalSupport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404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FinalGrade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40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2695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24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316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41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630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Online Classes Taken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7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8281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19682-85B0-8EE3-4F74-74B3D313B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8823882-FE09-34CF-9290-B2C4225C94C0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41E7243-A8E2-BAD6-F4C0-9C8C96CB54EC}"/>
              </a:ext>
            </a:extLst>
          </p:cNvPr>
          <p:cNvSpPr txBox="1"/>
          <p:nvPr/>
        </p:nvSpPr>
        <p:spPr>
          <a:xfrm>
            <a:off x="1020565" y="318499"/>
            <a:ext cx="64418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Cleaning the numerical data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BE09EF-C20D-788C-52C8-EF3494255533}"/>
              </a:ext>
            </a:extLst>
          </p:cNvPr>
          <p:cNvSpPr txBox="1"/>
          <p:nvPr/>
        </p:nvSpPr>
        <p:spPr>
          <a:xfrm>
            <a:off x="1020565" y="1097424"/>
            <a:ext cx="7880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 In the case of digital data, we fill in the missing data with the average in order to maintain the data distribution.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76102C9-4CE5-BAC6-425A-566603A1A9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714" y="2188389"/>
            <a:ext cx="5040000" cy="359999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860A269-3C4F-99EB-8913-5C461BAA3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838" y="2188389"/>
            <a:ext cx="5040000" cy="3600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5FE7E49-A539-19AB-2E18-1AC4D5E7B93B}"/>
              </a:ext>
            </a:extLst>
          </p:cNvPr>
          <p:cNvSpPr txBox="1"/>
          <p:nvPr/>
        </p:nvSpPr>
        <p:spPr>
          <a:xfrm>
            <a:off x="3328827" y="6061753"/>
            <a:ext cx="1428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Before</a:t>
            </a:r>
            <a:endParaRPr lang="en-CA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2FE4E1-82B3-AFE9-4E1E-439484B989A3}"/>
              </a:ext>
            </a:extLst>
          </p:cNvPr>
          <p:cNvSpPr txBox="1"/>
          <p:nvPr/>
        </p:nvSpPr>
        <p:spPr>
          <a:xfrm>
            <a:off x="8420784" y="5983320"/>
            <a:ext cx="1428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After</a:t>
            </a:r>
            <a:endParaRPr lang="en-CA" sz="2400" dirty="0"/>
          </a:p>
        </p:txBody>
      </p:sp>
    </p:spTree>
    <p:extLst>
      <p:ext uri="{BB962C8B-B14F-4D97-AF65-F5344CB8AC3E}">
        <p14:creationId xmlns:p14="http://schemas.microsoft.com/office/powerpoint/2010/main" val="9536635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B949CE-D167-55A4-6A19-69D951272FB1}"/>
              </a:ext>
            </a:extLst>
          </p:cNvPr>
          <p:cNvSpPr txBox="1"/>
          <p:nvPr/>
        </p:nvSpPr>
        <p:spPr>
          <a:xfrm>
            <a:off x="1339063" y="337335"/>
            <a:ext cx="67980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Cleaning the no-numerical data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1065B1-257E-B5E4-7130-CC8FF89ED6E0}"/>
              </a:ext>
            </a:extLst>
          </p:cNvPr>
          <p:cNvSpPr txBox="1"/>
          <p:nvPr/>
        </p:nvSpPr>
        <p:spPr>
          <a:xfrm>
            <a:off x="1339063" y="1198453"/>
            <a:ext cx="7880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 In the case of digital data, we fill in the missing data Using two methods </a:t>
            </a:r>
            <a:r>
              <a:rPr lang="ar-DZ" sz="2400" dirty="0"/>
              <a:t>:</a:t>
            </a:r>
            <a:endParaRPr lang="en-CA" sz="24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7FDBFEE-1597-C6E0-CA43-0965DFAE3B1B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599470D-BEEA-9BA8-CA9F-B8E665DD0502}"/>
              </a:ext>
            </a:extLst>
          </p:cNvPr>
          <p:cNvSpPr txBox="1"/>
          <p:nvPr/>
        </p:nvSpPr>
        <p:spPr>
          <a:xfrm>
            <a:off x="1339062" y="2382246"/>
            <a:ext cx="79727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1 - Remove the less important columns (or those with no effect) : </a:t>
            </a:r>
            <a:endParaRPr lang="en-CA" sz="3200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4D0DEC-F520-9509-5546-AA4A196D856A}"/>
              </a:ext>
            </a:extLst>
          </p:cNvPr>
          <p:cNvSpPr txBox="1"/>
          <p:nvPr/>
        </p:nvSpPr>
        <p:spPr>
          <a:xfrm>
            <a:off x="1339062" y="3909798"/>
            <a:ext cx="74556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2 - Filling with the most frequent values to preserve the data distribution  :</a:t>
            </a:r>
            <a:r>
              <a:rPr lang="ar-DZ" sz="3200" b="1" dirty="0">
                <a:solidFill>
                  <a:srgbClr val="00B050"/>
                </a:solidFill>
              </a:rPr>
              <a:t> </a:t>
            </a:r>
            <a:endParaRPr lang="en-CA" sz="3200" b="1" dirty="0">
              <a:solidFill>
                <a:srgbClr val="00B05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A51404-516A-0C37-78DB-1A81C41518E3}"/>
              </a:ext>
            </a:extLst>
          </p:cNvPr>
          <p:cNvSpPr txBox="1"/>
          <p:nvPr/>
        </p:nvSpPr>
        <p:spPr>
          <a:xfrm>
            <a:off x="1339062" y="5305371"/>
            <a:ext cx="74556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3 – manual filling :</a:t>
            </a:r>
            <a:r>
              <a:rPr lang="ar-DZ" sz="3200" b="1" dirty="0">
                <a:solidFill>
                  <a:srgbClr val="00B050"/>
                </a:solidFill>
              </a:rPr>
              <a:t> </a:t>
            </a:r>
            <a:endParaRPr lang="en-CA" sz="32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05130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0F6C329-6E8A-C7B3-D94F-30E54237FC41}"/>
              </a:ext>
            </a:extLst>
          </p:cNvPr>
          <p:cNvSpPr txBox="1"/>
          <p:nvPr/>
        </p:nvSpPr>
        <p:spPr>
          <a:xfrm>
            <a:off x="1020563" y="687010"/>
            <a:ext cx="79727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1 - Remove the less important columns (or those with no effect) : </a:t>
            </a:r>
            <a:endParaRPr lang="en-CA" sz="3200" dirty="0">
              <a:solidFill>
                <a:srgbClr val="00B050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C800BB-7444-48A4-E6F9-4E6026D0D671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6C30071-4D1F-6D6A-A2CD-680628ACFE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509" y="2083079"/>
            <a:ext cx="5040000" cy="378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8AFE57-4824-A55D-EF57-796BC30194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84" y="2083079"/>
            <a:ext cx="5040000" cy="378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B9D0EA7-0722-9025-FAD1-8A74C3D1F157}"/>
              </a:ext>
            </a:extLst>
          </p:cNvPr>
          <p:cNvSpPr txBox="1"/>
          <p:nvPr/>
        </p:nvSpPr>
        <p:spPr>
          <a:xfrm>
            <a:off x="3328827" y="6061753"/>
            <a:ext cx="1428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Before</a:t>
            </a:r>
            <a:endParaRPr lang="en-CA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A68181-7FBC-0417-9EDA-49855C4C2B4F}"/>
              </a:ext>
            </a:extLst>
          </p:cNvPr>
          <p:cNvSpPr txBox="1"/>
          <p:nvPr/>
        </p:nvSpPr>
        <p:spPr>
          <a:xfrm>
            <a:off x="8420784" y="5983320"/>
            <a:ext cx="1428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After</a:t>
            </a:r>
            <a:endParaRPr lang="en-CA" sz="2400" dirty="0"/>
          </a:p>
        </p:txBody>
      </p:sp>
    </p:spTree>
    <p:extLst>
      <p:ext uri="{BB962C8B-B14F-4D97-AF65-F5344CB8AC3E}">
        <p14:creationId xmlns:p14="http://schemas.microsoft.com/office/powerpoint/2010/main" val="2703631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9ED2F-B0A3-8BF9-DF16-34FDB9E4A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B7A9F28-12B7-3B6F-2836-1C435EE32EC4}"/>
              </a:ext>
            </a:extLst>
          </p:cNvPr>
          <p:cNvSpPr txBox="1"/>
          <p:nvPr/>
        </p:nvSpPr>
        <p:spPr>
          <a:xfrm>
            <a:off x="1020563" y="687010"/>
            <a:ext cx="79727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2 - Filling with the most frequent values to preserve the data distribution  :</a:t>
            </a:r>
            <a:r>
              <a:rPr lang="ar-DZ" sz="3200" b="1" dirty="0">
                <a:solidFill>
                  <a:srgbClr val="00B050"/>
                </a:solidFill>
              </a:rPr>
              <a:t> </a:t>
            </a:r>
            <a:endParaRPr lang="en-CA" sz="3200" dirty="0">
              <a:solidFill>
                <a:srgbClr val="00B050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933A36E-A10F-580A-8730-BAB6E3DDA35E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CA9039F-F852-5AE3-8D15-F004B36EACD2}"/>
              </a:ext>
            </a:extLst>
          </p:cNvPr>
          <p:cNvSpPr txBox="1"/>
          <p:nvPr/>
        </p:nvSpPr>
        <p:spPr>
          <a:xfrm>
            <a:off x="3328827" y="6061753"/>
            <a:ext cx="1428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Before</a:t>
            </a:r>
            <a:endParaRPr lang="en-CA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943FA7-5630-A4AF-5074-BD5800DEE289}"/>
              </a:ext>
            </a:extLst>
          </p:cNvPr>
          <p:cNvSpPr txBox="1"/>
          <p:nvPr/>
        </p:nvSpPr>
        <p:spPr>
          <a:xfrm>
            <a:off x="8420784" y="5983320"/>
            <a:ext cx="1428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After</a:t>
            </a:r>
            <a:endParaRPr lang="en-CA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DA29D1-D340-BA19-BD3D-3B731B1921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1180" y="2083079"/>
            <a:ext cx="5040000" cy="360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5759A3F-308E-3067-09DF-3E2A9800E0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838" y="2083079"/>
            <a:ext cx="504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062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466</TotalTime>
  <Words>629</Words>
  <Application>Microsoft Office PowerPoint</Application>
  <PresentationFormat>Widescreen</PresentationFormat>
  <Paragraphs>101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taher smida</dc:creator>
  <cp:lastModifiedBy>taher smida</cp:lastModifiedBy>
  <cp:revision>14</cp:revision>
  <dcterms:created xsi:type="dcterms:W3CDTF">2025-11-22T17:30:49Z</dcterms:created>
  <dcterms:modified xsi:type="dcterms:W3CDTF">2025-11-24T10:29:03Z</dcterms:modified>
</cp:coreProperties>
</file>